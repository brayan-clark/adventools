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8"/>
  </p:notesMasterIdLst>
  <p:sldIdLst>
    <p:sldId id="259" r:id="rId2"/>
    <p:sldId id="256" r:id="rId3"/>
    <p:sldId id="257" r:id="rId4"/>
    <p:sldId id="262" r:id="rId5"/>
    <p:sldId id="260" r:id="rId6"/>
    <p:sldId id="261" r:id="rId7"/>
    <p:sldId id="266" r:id="rId8"/>
    <p:sldId id="263" r:id="rId9"/>
    <p:sldId id="267" r:id="rId10"/>
    <p:sldId id="271" r:id="rId11"/>
    <p:sldId id="272" r:id="rId12"/>
    <p:sldId id="276" r:id="rId13"/>
    <p:sldId id="273" r:id="rId14"/>
    <p:sldId id="268" r:id="rId15"/>
    <p:sldId id="274" r:id="rId16"/>
    <p:sldId id="258" r:id="rId17"/>
    <p:sldId id="269" r:id="rId18"/>
    <p:sldId id="265" r:id="rId19"/>
    <p:sldId id="275" r:id="rId20"/>
    <p:sldId id="280" r:id="rId21"/>
    <p:sldId id="278" r:id="rId22"/>
    <p:sldId id="264" r:id="rId23"/>
    <p:sldId id="270" r:id="rId24"/>
    <p:sldId id="277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271" autoAdjust="0"/>
  </p:normalViewPr>
  <p:slideViewPr>
    <p:cSldViewPr snapToGrid="0" showGuides="1">
      <p:cViewPr varScale="1">
        <p:scale>
          <a:sx n="58" d="100"/>
          <a:sy n="58" d="100"/>
        </p:scale>
        <p:origin x="1176" y="5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157-0CFB-40FF-B31B-63AC596FA24D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A51CA-46A8-4A4C-8BC5-B82BD89C92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03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%C3%89toile" TargetMode="External"/><Relationship Id="rId7" Type="http://schemas.openxmlformats.org/officeDocument/2006/relationships/hyperlink" Target="http://fr.wikipedia.org/wiki/Vierge_(constellation)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Justice" TargetMode="External"/><Relationship Id="rId5" Type="http://schemas.openxmlformats.org/officeDocument/2006/relationships/hyperlink" Target="http://fr.wikipedia.org/wiki/Astr%C3%A9e_(mythologie)" TargetMode="External"/><Relationship Id="rId4" Type="http://schemas.openxmlformats.org/officeDocument/2006/relationships/hyperlink" Target="http://fr.wikipedia.org/wiki/Mythologie" TargetMode="Externa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24_juillet" TargetMode="External"/><Relationship Id="rId3" Type="http://schemas.openxmlformats.org/officeDocument/2006/relationships/hyperlink" Target="http://fr.wikipedia.org/wiki/Lion_(astrologie)" TargetMode="External"/><Relationship Id="rId7" Type="http://schemas.openxmlformats.org/officeDocument/2006/relationships/hyperlink" Target="http://fr.wikipedia.org/wiki/Solei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%C3%89cliptique" TargetMode="External"/><Relationship Id="rId5" Type="http://schemas.openxmlformats.org/officeDocument/2006/relationships/hyperlink" Target="http://fr.wikipedia.org/wiki/Zodiaque" TargetMode="External"/><Relationship Id="rId4" Type="http://schemas.openxmlformats.org/officeDocument/2006/relationships/hyperlink" Target="http://fr.wikipedia.org/wiki/Signe_astrologique" TargetMode="External"/><Relationship Id="rId9" Type="http://schemas.openxmlformats.org/officeDocument/2006/relationships/hyperlink" Target="http://fr.wikipedia.org/wiki/23_ao%C3%BBt" TargetMode="Externa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Baleine_(constellation)" TargetMode="External"/><Relationship Id="rId3" Type="http://schemas.openxmlformats.org/officeDocument/2006/relationships/hyperlink" Target="http://fr.wikipedia.org/wiki/H%C3%A9misph%C3%A8re_nord" TargetMode="External"/><Relationship Id="rId7" Type="http://schemas.openxmlformats.org/officeDocument/2006/relationships/hyperlink" Target="http://fr.wikipedia.org/wiki/Pers%C3%A9e_(constellation)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Cocher_(constellation)" TargetMode="External"/><Relationship Id="rId5" Type="http://schemas.openxmlformats.org/officeDocument/2006/relationships/hyperlink" Target="http://fr.wikipedia.org/wiki/G%C3%A9meaux" TargetMode="External"/><Relationship Id="rId10" Type="http://schemas.openxmlformats.org/officeDocument/2006/relationships/hyperlink" Target="http://fr.wikipedia.org/wiki/Orion_(constellation)" TargetMode="External"/><Relationship Id="rId4" Type="http://schemas.openxmlformats.org/officeDocument/2006/relationships/hyperlink" Target="http://fr.wikipedia.org/wiki/B%C3%A9lier_(constellation)" TargetMode="External"/><Relationship Id="rId9" Type="http://schemas.openxmlformats.org/officeDocument/2006/relationships/hyperlink" Target="http://fr.wikipedia.org/wiki/%C3%89ridan_(constellation)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Philosophe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VIe_si%C3%A8cle_av._J.-C." TargetMode="External"/><Relationship Id="rId5" Type="http://schemas.openxmlformats.org/officeDocument/2006/relationships/hyperlink" Target="http://fr.wikipedia.org/wiki/Thal%C3%A8s_de_Milet" TargetMode="External"/><Relationship Id="rId4" Type="http://schemas.openxmlformats.org/officeDocument/2006/relationships/hyperlink" Target="http://fr.wikipedia.org/wiki/Gr%C3%A8ce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Alpha_Booti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fr.wikipedia.org/wiki/Couronne_bor%C3%A9ale" TargetMode="External"/><Relationship Id="rId4" Type="http://schemas.openxmlformats.org/officeDocument/2006/relationships/hyperlink" Target="http://fr.wikipedia.org/wiki/Sagittaire_(constellation)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Androm%C3%A8de_(constellation)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fr.wikipedia.org/wiki/B%C3%A9lier_(constellation)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Babylone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fr.wikipedia.org/wiki/Grand_carr%C3%A9_de_P%C3%A9gase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Hydre_(constellation)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Poisson_austral" TargetMode="External"/><Relationship Id="rId3" Type="http://schemas.openxmlformats.org/officeDocument/2006/relationships/hyperlink" Target="http://fr.wikipedia.org/wiki/Grand_carr%C3%A9_de_P%C3%A9gase" TargetMode="External"/><Relationship Id="rId7" Type="http://schemas.openxmlformats.org/officeDocument/2006/relationships/hyperlink" Target="http://fr.wikipedia.org/wiki/Alpha_Piscis_Austrini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P%C3%A9gase_(constellation)" TargetMode="External"/><Relationship Id="rId5" Type="http://schemas.openxmlformats.org/officeDocument/2006/relationships/hyperlink" Target="http://fr.wikipedia.org/wiki/Cygne_(constellation)" TargetMode="External"/><Relationship Id="rId4" Type="http://schemas.openxmlformats.org/officeDocument/2006/relationships/hyperlink" Target="http://fr.wikipedia.org/wiki/Capricorne_(constellation)" TargetMode="External"/></Relationships>
</file>

<file path=ppt/notesSlides/_rels/notes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Lion_(constellation)" TargetMode="External"/><Relationship Id="rId3" Type="http://schemas.openxmlformats.org/officeDocument/2006/relationships/hyperlink" Target="http://fr.wikipedia.org/wiki/Babylone" TargetMode="External"/><Relationship Id="rId7" Type="http://schemas.openxmlformats.org/officeDocument/2006/relationships/hyperlink" Target="http://fr.wikipedia.org/wiki/G%C3%A9meaux" TargetMode="External"/><Relationship Id="rId12" Type="http://schemas.openxmlformats.org/officeDocument/2006/relationships/hyperlink" Target="http://fr.wikipedia.org/wiki/Alpha_Leonis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Beta_Geminorum" TargetMode="External"/><Relationship Id="rId11" Type="http://schemas.openxmlformats.org/officeDocument/2006/relationships/hyperlink" Target="http://fr.wikipedia.org/wiki/Hydre_(constellation)" TargetMode="External"/><Relationship Id="rId5" Type="http://schemas.openxmlformats.org/officeDocument/2006/relationships/hyperlink" Target="http://fr.wikipedia.org/wiki/Castor_(%C3%A9toile)" TargetMode="External"/><Relationship Id="rId10" Type="http://schemas.openxmlformats.org/officeDocument/2006/relationships/hyperlink" Target="http://fr.wikipedia.org/wiki/Alpha_Canis_Minoris" TargetMode="External"/><Relationship Id="rId4" Type="http://schemas.openxmlformats.org/officeDocument/2006/relationships/hyperlink" Target="http://fr.wikipedia.org/wiki/%C3%89gypte" TargetMode="External"/><Relationship Id="rId9" Type="http://schemas.openxmlformats.org/officeDocument/2006/relationships/hyperlink" Target="http://fr.wikipedia.org/wiki/Petit_Chien" TargetMode="External"/></Relationships>
</file>

<file path=ppt/notesSlides/_rels/notes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Grue_(constellation)" TargetMode="External"/><Relationship Id="rId3" Type="http://schemas.openxmlformats.org/officeDocument/2006/relationships/hyperlink" Target="http://fr.wikipedia.org/wiki/Alpha_Piscis_Austrini" TargetMode="External"/><Relationship Id="rId7" Type="http://schemas.openxmlformats.org/officeDocument/2006/relationships/hyperlink" Target="http://fr.wikipedia.org/wiki/Ph%C3%A9nix_(constellation)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fr.wikipedia.org/wiki/Baleine_(constellation)" TargetMode="External"/><Relationship Id="rId5" Type="http://schemas.openxmlformats.org/officeDocument/2006/relationships/hyperlink" Target="http://fr.wikipedia.org/wiki/Verseau" TargetMode="External"/><Relationship Id="rId4" Type="http://schemas.openxmlformats.org/officeDocument/2006/relationships/hyperlink" Target="http://fr.wikipedia.org/wiki/Capricorne_(constellation)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C'est une constellation modeste qui ne contient aucune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Étoile"/>
              </a:rPr>
              <a:t>étoile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première magnitude. Elle était jadis considérée comme les pinces du scorpion (ses étoiles en tirent leur nom). Dans la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Mythologie"/>
              </a:rPr>
              <a:t>mythologie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classique, elle était la balance d'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Astrée (mythologie)"/>
              </a:rPr>
              <a:t>Astrée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 déesse vierge de la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Justice"/>
              </a:rPr>
              <a:t>Justice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 déesse elle-même étant représentée par une constellation voisine, la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Vierge (constellation)"/>
              </a:rPr>
              <a:t>Vierge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179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Lion (astrologie)"/>
              </a:rPr>
              <a:t>Lion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désigne également un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Signe astrologique"/>
              </a:rPr>
              <a:t>signe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Zodiaque"/>
              </a:rPr>
              <a:t>zodiaque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correspondant au secteur de 30° de l'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Écliptique"/>
              </a:rPr>
              <a:t>écliptique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 par le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Soleil"/>
              </a:rPr>
              <a:t>Soleil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24 juillet"/>
              </a:rPr>
              <a:t>24 juillet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23 août"/>
              </a:rPr>
              <a:t>23 août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427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grande constellation proéminente du ciel hivernal de l’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émisphère nord"/>
              </a:rPr>
              <a:t>hémisphère nord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 Taureau est situé entre le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Bélier (constellation)"/>
              </a:rPr>
              <a:t>Bélier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l’ouest et les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Gémeaux"/>
              </a:rPr>
              <a:t>Gémeaux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l’est. Le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Cocher (constellation)"/>
              </a:rPr>
              <a:t>Cocher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Persée (constellation)"/>
              </a:rPr>
              <a:t>Persée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trouvent au nord, la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Baleine (constellation)"/>
              </a:rPr>
              <a:t>Baleine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l’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Éridan (constellation)"/>
              </a:rPr>
              <a:t>Éridan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sud-est, et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Orion (constellation)"/>
              </a:rPr>
              <a:t>Orion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sud-est.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403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constellation de la Petite Ourse est assez pauvre et peu lumineuse.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Traditionnellement, on voit la Petite Ourse sous forme d'un "petit chariot«  </a:t>
            </a:r>
          </a:p>
          <a:p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Faisant vraisemblablement partie à l'origine d'une constellation disparue depuis longtemps nommée </a:t>
            </a:r>
            <a:r>
              <a:rPr kumimoji="0" lang="fr-FR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l'Aile du Dragon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on dit qu'elle fut créée par le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Philosophe"/>
              </a:rPr>
              <a:t>philosophe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Grèce"/>
              </a:rPr>
              <a:t>grec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Thalès de Milet"/>
              </a:rPr>
              <a:t>Thalès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VIe siècle av. J.-C."/>
              </a:rPr>
              <a:t>VI</a:t>
            </a:r>
            <a:r>
              <a:rPr kumimoji="0" lang="fr-FR" sz="9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VIe siècle av. J.-C."/>
              </a:rPr>
              <a:t>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VIe siècle av. J.-C."/>
              </a:rPr>
              <a:t> siècle av. J.-C.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770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 alignement se prolonge vers le NO jusqu'à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Alpha Bootis"/>
              </a:rPr>
              <a:t>α </a:t>
            </a:r>
            <a:r>
              <a:rPr lang="fr-F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Alpha Bootis"/>
              </a:rPr>
              <a:t>Bootis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Arcturus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et vers le SO jusqu'au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Sagittaire (constellation)"/>
              </a:rPr>
              <a:t>Sagittaire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tête proprement dite est marquée par un faible triangle d'étoiles, quelques degrés au sud de la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uronne boréale"/>
              </a:rPr>
              <a:t>Couronne boréale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862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Triangle est une constellation faible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4) mais bien ramassée, et son repérage ne pose pas de problème particulier dès lors que les conditions de visibilité sont suffisantes.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est situé sous la diagonale d'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Andromède (constellation)"/>
              </a:rPr>
              <a:t>Andromède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entre la jambe d'Andromède et les étoiles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Bélier (constellation)"/>
              </a:rPr>
              <a:t>Bélier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059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constellation des Poissons est une des constellations les plus anciennes. Son origine remonte vraisemblablement aux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Babylone"/>
              </a:rPr>
              <a:t>babyloniens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constellation est dans le voisinage immédiat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Grand carré de Pégase"/>
              </a:rPr>
              <a:t>Grand carré de Pégase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à partir duquel elle peut être repérée si les conditions de visibilité sont suffisantes.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252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C’est une constellation immense (la deuxième  du ciel, après l’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Hydre (constellation)"/>
              </a:rPr>
              <a:t>Hydre</a:t>
            </a: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et extrêmement ancienne.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Vierge se repère progressivement autour de son étoile majeure, Spica.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l'hémisphère Nord, Spica se repère facilement à partir de la Grande Ourse: le manche de la "casserole" poursuit grand un arc de cercle jusqu'à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Arcturus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dans le Bouvier (en haut dans l'image ci-contre), et le prolongement de cet arc conduit à Spica.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792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L'axe principal du Verseau se situe dans la diagonale Nord-Est / Sud-Ouest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Grand carré de Pégase"/>
              </a:rPr>
              <a:t>grand carré de Pégase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côté Sud. La constellation s'étend sur cet axe depuis les pieds de Pégase jusqu'à la tête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Capricorne (constellation)"/>
              </a:rPr>
              <a:t>Capricorne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marquée par une paire d'étoiles assez brillantes (les cornes du capricorne, α et β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Verseau peut également se repérer dans l'axe des ailes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ygne (constellation)"/>
              </a:rPr>
              <a:t>Cygne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axe qui passe par les pieds de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Pégase (constellation)"/>
              </a:rPr>
              <a:t>Pégase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aboutit côté Sud sur </a:t>
            </a:r>
            <a:r>
              <a:rPr lang="fr-F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Alpha Piscis Austrini"/>
              </a:rPr>
              <a:t>Fomalhaut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Poisson austral"/>
              </a:rPr>
              <a:t>Poisson austral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reste de la constellation s'étend dans l'axe marqué par le côté Ouest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Grand carré de Pégase"/>
              </a:rPr>
              <a:t>Grand carré de Pégase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qui se prolonge vers le Sud jusqu'à </a:t>
            </a:r>
            <a:r>
              <a:rPr lang="fr-F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Alpha Piscis Austrini"/>
              </a:rPr>
              <a:t>Fomalhaut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Poisson austral"/>
              </a:rPr>
              <a:t>Poisson austral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 y rencontre successivement λ, τ (plus faible) et δ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(plus brillante).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258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constellation était appelée </a:t>
            </a:r>
            <a:r>
              <a:rPr lang="fr-FR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Tortue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les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Babylone"/>
              </a:rPr>
              <a:t>babyloniens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</a:t>
            </a:r>
            <a:r>
              <a:rPr lang="fr-FR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Scarabée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les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Égypte"/>
              </a:rPr>
              <a:t>égyptiens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4 000 ans av. J.-C. Dès 2 000 ans av. J.-C.,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Cancer est situé à l'est de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astor (étoile)"/>
              </a:rPr>
              <a:t>Castor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Beta Geminorum"/>
              </a:rPr>
              <a:t>Pollux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Gémeaux"/>
              </a:rPr>
              <a:t>Gémeaux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à l'ouest de la tête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Lion (constellation)"/>
              </a:rPr>
              <a:t>Lion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reconnaissable à sa faucille.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Plus au sud, la constellation est limitée par le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Petit Chien"/>
              </a:rPr>
              <a:t>Petit Chien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sud-ouest, facilement reconnaissable avec </a:t>
            </a:r>
            <a:r>
              <a:rPr lang="fr-F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Alpha Canis Minoris"/>
              </a:rPr>
              <a:t>Procyon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; la tête de l'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Hydre (constellation)"/>
              </a:rPr>
              <a:t>Hydre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plein Sud ; et les pattes du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Lion (constellation)"/>
              </a:rPr>
              <a:t>Lion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avec </a:t>
            </a:r>
            <a:r>
              <a:rPr lang="fr-F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Alpha Leonis"/>
              </a:rPr>
              <a:t>Régulus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sud-Est.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20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Constellations voisines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Alpha Piscis Austrini"/>
              </a:rPr>
              <a:t>Fomalhaut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entourée de constellations intéressantes : Le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Capricorne (constellation)"/>
              </a:rPr>
              <a:t>Capricorne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Nord-Ouest, le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Verseau"/>
              </a:rPr>
              <a:t>Verseau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Nord, la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Baleine (constellation)"/>
              </a:rPr>
              <a:t>Baleine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Nord-Est, le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Phénix (constellation)"/>
              </a:rPr>
              <a:t>Phénix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Sud-Est, et la </a:t>
            </a:r>
            <a:r>
              <a:rPr lang="fr-FR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Grue (constellation)"/>
              </a:rPr>
              <a:t>Grue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 Sud. Ces constellations se repèrent localement par leur forme et leur voisinage, les alignements locaux ne sont pas très suggestifs.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7A51CA-46A8-4A4C-8BC5-B82BD89C92C9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40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90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56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76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66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77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67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50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287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83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20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48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16E1B-549E-449F-B1F0-039057B1F4D3}" type="datetimeFigureOut">
              <a:rPr lang="fr-FR" smtClean="0"/>
              <a:t>23/06/2018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68404-69B1-4761-8B4B-607132DF03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658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Image:Orion_constellation_map.png" TargetMode="External"/><Relationship Id="rId3" Type="http://schemas.openxmlformats.org/officeDocument/2006/relationships/image" Target="../media/image1.gif"/><Relationship Id="rId7" Type="http://schemas.openxmlformats.org/officeDocument/2006/relationships/image" Target="../media/image2.jpeg"/><Relationship Id="rId2" Type="http://schemas.openxmlformats.org/officeDocument/2006/relationships/hyperlink" Target="http://fr.wikipedia.org/wiki/Image:Orion-guide_dark.sv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fr.wikipedia.org/wiki/Taureau_(constellation)" TargetMode="External"/><Relationship Id="rId5" Type="http://schemas.openxmlformats.org/officeDocument/2006/relationships/hyperlink" Target="http://fr.wikipedia.org/wiki/G%C3%A9meaux" TargetMode="External"/><Relationship Id="rId10" Type="http://schemas.openxmlformats.org/officeDocument/2006/relationships/image" Target="http://upload.wikimedia.org/wikipedia/fr/thumb/5/5d/Orion_constellation_map.png/290px-Orion_constellation_map.png" TargetMode="External"/><Relationship Id="rId4" Type="http://schemas.openxmlformats.org/officeDocument/2006/relationships/image" Target="http://fr.wikipedia.org/skins-1.5/common/images/magnify-clip.png" TargetMode="Externa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Castor_(%C3%A9toile)" TargetMode="External"/><Relationship Id="rId13" Type="http://schemas.openxmlformats.org/officeDocument/2006/relationships/image" Target="http://upload.wikimedia.org/wikipedia/commons/thumb/9/9f/Orion-guide_dark.svg/180px-Orion-guide_dark.svg.png" TargetMode="External"/><Relationship Id="rId3" Type="http://schemas.openxmlformats.org/officeDocument/2006/relationships/hyperlink" Target="http://fr.wikipedia.org/wiki/Grand_Chien" TargetMode="External"/><Relationship Id="rId7" Type="http://schemas.openxmlformats.org/officeDocument/2006/relationships/hyperlink" Target="http://fr.wikipedia.org/wiki/Petit_Chien" TargetMode="External"/><Relationship Id="rId12" Type="http://schemas.openxmlformats.org/officeDocument/2006/relationships/image" Target="../media/image4.png"/><Relationship Id="rId2" Type="http://schemas.openxmlformats.org/officeDocument/2006/relationships/hyperlink" Target="http://fr.wikipedia.org/wiki/Siriu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Alpha_Canis_Minoris" TargetMode="External"/><Relationship Id="rId11" Type="http://schemas.openxmlformats.org/officeDocument/2006/relationships/hyperlink" Target="http://fr.wikipedia.org/wiki/Image:Orion-guide_dark.svg" TargetMode="External"/><Relationship Id="rId5" Type="http://schemas.openxmlformats.org/officeDocument/2006/relationships/hyperlink" Target="http://fr.wikipedia.org/wiki/Taureau_(constellation)" TargetMode="External"/><Relationship Id="rId10" Type="http://schemas.openxmlformats.org/officeDocument/2006/relationships/hyperlink" Target="http://fr.wikipedia.org/wiki/G%C3%A9meaux" TargetMode="External"/><Relationship Id="rId4" Type="http://schemas.openxmlformats.org/officeDocument/2006/relationships/hyperlink" Target="http://fr.wikipedia.org/wiki/Alpha_Tauri" TargetMode="External"/><Relationship Id="rId9" Type="http://schemas.openxmlformats.org/officeDocument/2006/relationships/hyperlink" Target="http://fr.wikipedia.org/wiki/Beta_Geminorum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23_octobre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://fr.wikipedia.org/wiki/Soleil" TargetMode="External"/><Relationship Id="rId12" Type="http://schemas.openxmlformats.org/officeDocument/2006/relationships/hyperlink" Target="http://fr.wikipedia.org/wiki/H%C3%A9misph%C3%A8re_sud" TargetMode="External"/><Relationship Id="rId2" Type="http://schemas.openxmlformats.org/officeDocument/2006/relationships/hyperlink" Target="http://fr.wikipedia.org/wiki/Image:Scorpius_constellation_map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Zodiaque" TargetMode="External"/><Relationship Id="rId11" Type="http://schemas.openxmlformats.org/officeDocument/2006/relationships/hyperlink" Target="http://fr.wikipedia.org/wiki/Sagittaire_(constellation)" TargetMode="External"/><Relationship Id="rId5" Type="http://schemas.openxmlformats.org/officeDocument/2006/relationships/hyperlink" Target="http://fr.wikipedia.org/wiki/Constellation" TargetMode="External"/><Relationship Id="rId10" Type="http://schemas.openxmlformats.org/officeDocument/2006/relationships/hyperlink" Target="http://fr.wikipedia.org/wiki/Balance_(constellation)" TargetMode="External"/><Relationship Id="rId4" Type="http://schemas.openxmlformats.org/officeDocument/2006/relationships/image" Target="http://upload.wikimedia.org/wikipedia/fr/thumb/5/52/Scorpius_constellation_map.png/290px-Scorpius_constellation_map.png" TargetMode="External"/><Relationship Id="rId9" Type="http://schemas.openxmlformats.org/officeDocument/2006/relationships/hyperlink" Target="http://fr.wikipedia.org/wiki/29_novembr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Vierge_(constellation)" TargetMode="External"/><Relationship Id="rId3" Type="http://schemas.openxmlformats.org/officeDocument/2006/relationships/hyperlink" Target="http://fr.wikipedia.org/wiki/Constellation" TargetMode="External"/><Relationship Id="rId7" Type="http://schemas.openxmlformats.org/officeDocument/2006/relationships/hyperlink" Target="http://fr.wikipedia.org/wiki/22_novembr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31_octobre" TargetMode="External"/><Relationship Id="rId5" Type="http://schemas.openxmlformats.org/officeDocument/2006/relationships/hyperlink" Target="http://fr.wikipedia.org/wiki/Solei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fr.wikipedia.org/wiki/Zodiaque" TargetMode="External"/><Relationship Id="rId9" Type="http://schemas.openxmlformats.org/officeDocument/2006/relationships/hyperlink" Target="http://fr.wikipedia.org/wiki/Scorpion_(constellation)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Capricorne_(constellation)" TargetMode="External"/><Relationship Id="rId13" Type="http://schemas.openxmlformats.org/officeDocument/2006/relationships/image" Target="../media/image8.jpeg"/><Relationship Id="rId3" Type="http://schemas.openxmlformats.org/officeDocument/2006/relationships/hyperlink" Target="http://fr.wikipedia.org/wiki/Zodiaque" TargetMode="External"/><Relationship Id="rId7" Type="http://schemas.openxmlformats.org/officeDocument/2006/relationships/hyperlink" Target="http://fr.wikipedia.org/wiki/Scorpion_(constellation)" TargetMode="External"/><Relationship Id="rId12" Type="http://schemas.openxmlformats.org/officeDocument/2006/relationships/hyperlink" Target="http://fr.wikipedia.org/wiki/Image:Sagittarius_Hevelius.jpg" TargetMode="External"/><Relationship Id="rId2" Type="http://schemas.openxmlformats.org/officeDocument/2006/relationships/hyperlink" Target="http://fr.wikipedia.org/wiki/Constell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18_janvier" TargetMode="External"/><Relationship Id="rId11" Type="http://schemas.openxmlformats.org/officeDocument/2006/relationships/image" Target="http://upload.wikimedia.org/wikipedia/fr/thumb/8/80/Sagittarius_constellation_map.png/290px-Sagittarius_constellation_map.png" TargetMode="External"/><Relationship Id="rId5" Type="http://schemas.openxmlformats.org/officeDocument/2006/relationships/hyperlink" Target="http://fr.wikipedia.org/wiki/18_d%C3%A9cembre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://fr.wikipedia.org/wiki/Soleil" TargetMode="External"/><Relationship Id="rId9" Type="http://schemas.openxmlformats.org/officeDocument/2006/relationships/hyperlink" Target="http://fr.wikipedia.org/wiki/Image:Sagittarius_constellation_map.png" TargetMode="External"/><Relationship Id="rId14" Type="http://schemas.openxmlformats.org/officeDocument/2006/relationships/image" Target="http://upload.wikimedia.org/wikipedia/commons/thumb/8/8d/Sagittarius_Hevelius.jpg/300px-Sagittarius_Hevelius.jpg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P%C3%B4le_c%C3%A9leste" TargetMode="External"/><Relationship Id="rId3" Type="http://schemas.openxmlformats.org/officeDocument/2006/relationships/image" Target="http://upload.wikimedia.org/wikipedia/fr/e/e3/Crux_constellation_map.png" TargetMode="External"/><Relationship Id="rId7" Type="http://schemas.openxmlformats.org/officeDocument/2006/relationships/hyperlink" Target="http://fr.wikipedia.org/wiki/Mouche_(constellation)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entaure_(constellation)" TargetMode="External"/><Relationship Id="rId5" Type="http://schemas.openxmlformats.org/officeDocument/2006/relationships/hyperlink" Target="http://fr.wikipedia.org/wiki/H%C3%A9misph%C3%A8re_sud" TargetMode="External"/><Relationship Id="rId4" Type="http://schemas.openxmlformats.org/officeDocument/2006/relationships/hyperlink" Target="http://fr.wikipedia.org/wiki/Constellation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http://upload.wikimedia.org/wikipedia/commons/thumb/d/d1/Centaurus_carte.svg/290px-Centaurus_carte.svg.png" TargetMode="External"/><Relationship Id="rId3" Type="http://schemas.openxmlformats.org/officeDocument/2006/relationships/hyperlink" Target="http://fr.wikipedia.org/wiki/H%C3%A9misph%C3%A8re_sud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://fr.wikipedia.org/wiki/Constell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Image:Centaurus_carte.svg" TargetMode="External"/><Relationship Id="rId5" Type="http://schemas.openxmlformats.org/officeDocument/2006/relationships/hyperlink" Target="http://fr.wikipedia.org/wiki/Magnitude_apparente" TargetMode="External"/><Relationship Id="rId4" Type="http://schemas.openxmlformats.org/officeDocument/2006/relationships/hyperlink" Target="http://fr.wikipedia.org/wiki/%C3%89toile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Scorpion_(constellation)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://fr.wikipedia.org/wiki/Couronne_bor%C3%A9ale" TargetMode="External"/><Relationship Id="rId2" Type="http://schemas.openxmlformats.org/officeDocument/2006/relationships/hyperlink" Target="http://fr.wikipedia.org/wiki/Image:Corona_australis_constellation_map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H%C3%A9misph%C3%A8re_sud" TargetMode="External"/><Relationship Id="rId5" Type="http://schemas.openxmlformats.org/officeDocument/2006/relationships/hyperlink" Target="http://fr.wikipedia.org/wiki/Constellation" TargetMode="External"/><Relationship Id="rId10" Type="http://schemas.openxmlformats.org/officeDocument/2006/relationships/hyperlink" Target="http://fr.wikipedia.org/wiki/Sigma_Sagittarii" TargetMode="External"/><Relationship Id="rId4" Type="http://schemas.openxmlformats.org/officeDocument/2006/relationships/image" Target="http://upload.wikimedia.org/wikipedia/fr/thumb/3/32/Corona_australis_constellation_map.png/290px-Corona_australis_constellation_map.png" TargetMode="External"/><Relationship Id="rId9" Type="http://schemas.openxmlformats.org/officeDocument/2006/relationships/hyperlink" Target="http://fr.wikipedia.org/wiki/Sagittaire_(constellation)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H%C3%A9misph%C3%A8re_nord" TargetMode="External"/><Relationship Id="rId3" Type="http://schemas.openxmlformats.org/officeDocument/2006/relationships/image" Target="http://upload.wikimedia.org/wikipedia/fr/thumb/c/c0/Ursa_major_constellation_map.png/290px-Ursa_major_constellation_map.png" TargetMode="External"/><Relationship Id="rId7" Type="http://schemas.openxmlformats.org/officeDocument/2006/relationships/hyperlink" Target="http://fr.wikipedia.org/wiki/Ast%C3%A9risme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onstellation" TargetMode="External"/><Relationship Id="rId11" Type="http://schemas.openxmlformats.org/officeDocument/2006/relationships/hyperlink" Target="http://fr.wikipedia.org/wiki/Latitude" TargetMode="External"/><Relationship Id="rId5" Type="http://schemas.openxmlformats.org/officeDocument/2006/relationships/image" Target="http://upload.wikimedia.org/wikipedia/commons/thumb/4/4e/Ursa_Major_constellation_Hevelius.jpg/200px-Ursa_Major_constellation_Hevelius.jpg" TargetMode="External"/><Relationship Id="rId10" Type="http://schemas.openxmlformats.org/officeDocument/2006/relationships/hyperlink" Target="http://fr.wikipedia.org/wiki/Circumpolaire" TargetMode="External"/><Relationship Id="rId4" Type="http://schemas.openxmlformats.org/officeDocument/2006/relationships/image" Target="../media/image13.jpeg"/><Relationship Id="rId9" Type="http://schemas.openxmlformats.org/officeDocument/2006/relationships/hyperlink" Target="http://fr.wikipedia.org/wiki/%C3%89toile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Soleil" TargetMode="External"/><Relationship Id="rId13" Type="http://schemas.openxmlformats.org/officeDocument/2006/relationships/hyperlink" Target="http://fr.wikipedia.org/wiki/%C3%89toile" TargetMode="External"/><Relationship Id="rId3" Type="http://schemas.openxmlformats.org/officeDocument/2006/relationships/hyperlink" Target="http://fr.wikipedia.org/wiki/Image:Leo_constellation_map.png" TargetMode="External"/><Relationship Id="rId7" Type="http://schemas.openxmlformats.org/officeDocument/2006/relationships/hyperlink" Target="http://fr.wikipedia.org/wiki/Zodiaque" TargetMode="External"/><Relationship Id="rId12" Type="http://schemas.openxmlformats.org/officeDocument/2006/relationships/hyperlink" Target="http://fr.wikipedia.org/wiki/Vierge_(constellation)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://fr.wikipedia.org/wiki/Grande_Ours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onstellation" TargetMode="External"/><Relationship Id="rId11" Type="http://schemas.openxmlformats.org/officeDocument/2006/relationships/hyperlink" Target="http://fr.wikipedia.org/wiki/Cancer_(constellation)" TargetMode="External"/><Relationship Id="rId5" Type="http://schemas.openxmlformats.org/officeDocument/2006/relationships/image" Target="http://upload.wikimedia.org/wikipedia/fr/thumb/d/de/Leo_constellation_map.png/290px-Leo_constellation_map.png" TargetMode="External"/><Relationship Id="rId15" Type="http://schemas.openxmlformats.org/officeDocument/2006/relationships/hyperlink" Target="http://fr.wikipedia.org/wiki/Beta_Leonis" TargetMode="External"/><Relationship Id="rId10" Type="http://schemas.openxmlformats.org/officeDocument/2006/relationships/hyperlink" Target="http://fr.wikipedia.org/wiki/16_septembre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://fr.wikipedia.org/wiki/10_ao%C3%BBt" TargetMode="External"/><Relationship Id="rId14" Type="http://schemas.openxmlformats.org/officeDocument/2006/relationships/hyperlink" Target="http://fr.wikipedia.org/wiki/Alpha_Leoni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Soleil" TargetMode="External"/><Relationship Id="rId13" Type="http://schemas.openxmlformats.org/officeDocument/2006/relationships/hyperlink" Target="http://fr.wikipedia.org/wiki/Taureau_(astrologie)" TargetMode="External"/><Relationship Id="rId18" Type="http://schemas.openxmlformats.org/officeDocument/2006/relationships/hyperlink" Target="http://fr.wikipedia.org/wiki/Image:Taurus_by_Johannes_Hevelius.JPG" TargetMode="External"/><Relationship Id="rId3" Type="http://schemas.openxmlformats.org/officeDocument/2006/relationships/hyperlink" Target="http://fr.wikipedia.org/wiki/Image:Taurus_constellation_map.png" TargetMode="External"/><Relationship Id="rId7" Type="http://schemas.openxmlformats.org/officeDocument/2006/relationships/hyperlink" Target="http://fr.wikipedia.org/wiki/Zodiaque" TargetMode="External"/><Relationship Id="rId12" Type="http://schemas.openxmlformats.org/officeDocument/2006/relationships/hyperlink" Target="http://fr.wikipedia.org/wiki/G%C3%A9meaux" TargetMode="External"/><Relationship Id="rId17" Type="http://schemas.openxmlformats.org/officeDocument/2006/relationships/hyperlink" Target="http://fr.wikipedia.org/wiki/20_mai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://fr.wikipedia.org/wiki/20_avril" TargetMode="External"/><Relationship Id="rId20" Type="http://schemas.openxmlformats.org/officeDocument/2006/relationships/image" Target="http://upload.wikimedia.org/wikipedia/commons/thumb/d/d5/Taurus_by_Johannes_Hevelius.JPG/400px-Taurus_by_Johannes_Hevelius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onstellation" TargetMode="External"/><Relationship Id="rId11" Type="http://schemas.openxmlformats.org/officeDocument/2006/relationships/hyperlink" Target="http://fr.wikipedia.org/wiki/B%C3%A9lier_(constellation)" TargetMode="External"/><Relationship Id="rId5" Type="http://schemas.openxmlformats.org/officeDocument/2006/relationships/image" Target="http://upload.wikimedia.org/wikipedia/fr/thumb/a/a1/Taurus_constellation_map.png/290px-Taurus_constellation_map.png" TargetMode="External"/><Relationship Id="rId15" Type="http://schemas.openxmlformats.org/officeDocument/2006/relationships/hyperlink" Target="http://fr.wikipedia.org/wiki/%C3%89cliptique" TargetMode="External"/><Relationship Id="rId10" Type="http://schemas.openxmlformats.org/officeDocument/2006/relationships/hyperlink" Target="http://fr.wikipedia.org/wiki/22_juin" TargetMode="External"/><Relationship Id="rId19" Type="http://schemas.openxmlformats.org/officeDocument/2006/relationships/image" Target="../media/image16.jpeg"/><Relationship Id="rId4" Type="http://schemas.openxmlformats.org/officeDocument/2006/relationships/image" Target="../media/image15.png"/><Relationship Id="rId9" Type="http://schemas.openxmlformats.org/officeDocument/2006/relationships/hyperlink" Target="http://fr.wikipedia.org/wiki/14_mai" TargetMode="External"/><Relationship Id="rId14" Type="http://schemas.openxmlformats.org/officeDocument/2006/relationships/hyperlink" Target="http://fr.wikipedia.org/wiki/Signe_astrologiqu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Constellation" TargetMode="External"/><Relationship Id="rId3" Type="http://schemas.openxmlformats.org/officeDocument/2006/relationships/hyperlink" Target="http://fr.wikipedia.org/wiki/Image:Ursa_minor_constellation_map.png" TargetMode="External"/><Relationship Id="rId7" Type="http://schemas.openxmlformats.org/officeDocument/2006/relationships/hyperlink" Target="http://fr.wikipedia.org/wiki/Almagest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Ptol%C3%A9m%C3%A9e" TargetMode="External"/><Relationship Id="rId5" Type="http://schemas.openxmlformats.org/officeDocument/2006/relationships/image" Target="http://upload.wikimedia.org/wikipedia/fr/thumb/1/1d/Ursa_minor_constellation_map.png/290px-Ursa_minor_constellation_map.png" TargetMode="External"/><Relationship Id="rId10" Type="http://schemas.openxmlformats.org/officeDocument/2006/relationships/hyperlink" Target="http://fr.wikipedia.org/wiki/P%C3%B4le_c%C3%A9leste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://fr.wikipedia.org/wiki/Alpha_Ursae_Minoris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Alphecca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://fr.wikipedia.org/wiki/%C3%89toile" TargetMode="External"/><Relationship Id="rId2" Type="http://schemas.openxmlformats.org/officeDocument/2006/relationships/hyperlink" Target="http://fr.wikipedia.org/wiki/Image:Corona_borealis_constellation_map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H%C3%A9misph%C3%A8re_nord" TargetMode="External"/><Relationship Id="rId5" Type="http://schemas.openxmlformats.org/officeDocument/2006/relationships/hyperlink" Target="http://fr.wikipedia.org/wiki/Constellation" TargetMode="External"/><Relationship Id="rId4" Type="http://schemas.openxmlformats.org/officeDocument/2006/relationships/image" Target="http://upload.wikimedia.org/wikipedia/fr/thumb/c/c8/Corona_borealis_constellation_map.png/290px-Corona_borealis_constellation_map.png" TargetMode="External"/><Relationship Id="rId9" Type="http://schemas.openxmlformats.org/officeDocument/2006/relationships/hyperlink" Target="http://fr.wikipedia.org/wiki/Couronne_australe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Ophiuchus" TargetMode="External"/><Relationship Id="rId3" Type="http://schemas.openxmlformats.org/officeDocument/2006/relationships/hyperlink" Target="http://fr.wikipedia.org/wiki/Image:Serpens_constellation_map.png" TargetMode="External"/><Relationship Id="rId7" Type="http://schemas.openxmlformats.org/officeDocument/2006/relationships/hyperlink" Target="http://fr.wikipedia.org/wiki/Serp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onstellation" TargetMode="External"/><Relationship Id="rId11" Type="http://schemas.openxmlformats.org/officeDocument/2006/relationships/hyperlink" Target="http://fr.wikipedia.org/wiki/H%C3%A9misph%C3%A8re_sud" TargetMode="External"/><Relationship Id="rId5" Type="http://schemas.openxmlformats.org/officeDocument/2006/relationships/image" Target="http://upload.wikimedia.org/wikipedia/fr/thumb/9/91/Serpens_constellation_map.png/290px-Serpens_constellation_map.png" TargetMode="External"/><Relationship Id="rId10" Type="http://schemas.openxmlformats.org/officeDocument/2006/relationships/hyperlink" Target="http://fr.wikipedia.org/wiki/H%C3%A9misph%C3%A8re_nord" TargetMode="External"/><Relationship Id="rId4" Type="http://schemas.openxmlformats.org/officeDocument/2006/relationships/image" Target="../media/image19.png"/><Relationship Id="rId9" Type="http://schemas.openxmlformats.org/officeDocument/2006/relationships/hyperlink" Target="http://fr.wikipedia.org/wiki/%C3%89toile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Poissons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://fr.wikipedia.org/wiki/Androm%C3%A8de_(constellation)" TargetMode="External"/><Relationship Id="rId12" Type="http://schemas.openxmlformats.org/officeDocument/2006/relationships/hyperlink" Target="http://fr.wikipedia.org/wiki/Ast%C3%A9risme" TargetMode="External"/><Relationship Id="rId2" Type="http://schemas.openxmlformats.org/officeDocument/2006/relationships/hyperlink" Target="http://fr.wikipedia.org/wiki/Image:Pegasus_constellation_map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H%C3%A9misph%C3%A8re_nord" TargetMode="External"/><Relationship Id="rId11" Type="http://schemas.openxmlformats.org/officeDocument/2006/relationships/hyperlink" Target="http://fr.wikipedia.org/wiki/Alpha_Andromedae" TargetMode="External"/><Relationship Id="rId5" Type="http://schemas.openxmlformats.org/officeDocument/2006/relationships/hyperlink" Target="http://fr.wikipedia.org/wiki/Constellation" TargetMode="External"/><Relationship Id="rId10" Type="http://schemas.openxmlformats.org/officeDocument/2006/relationships/hyperlink" Target="http://fr.wikipedia.org/wiki/Grand_carr%C3%A9_de_P%C3%A9gase" TargetMode="External"/><Relationship Id="rId4" Type="http://schemas.openxmlformats.org/officeDocument/2006/relationships/image" Target="http://upload.wikimedia.org/wikipedia/fr/thumb/1/1e/Pegasus_constellation_map.png/290px-Pegasus_constellation_map.png" TargetMode="External"/><Relationship Id="rId9" Type="http://schemas.openxmlformats.org/officeDocument/2006/relationships/hyperlink" Target="http://fr.wikipedia.org/wiki/Verseau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Voie_lact%C3%A9e_(galaxie)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://fr.wikipedia.org/wiki/%C3%89toile" TargetMode="External"/><Relationship Id="rId2" Type="http://schemas.openxmlformats.org/officeDocument/2006/relationships/hyperlink" Target="http://fr.wikipedia.org/wiki/Image:Cygnus_constellation_map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roix_du_Sud" TargetMode="External"/><Relationship Id="rId11" Type="http://schemas.openxmlformats.org/officeDocument/2006/relationships/image" Target="http://upload.wikimedia.org/wikipedia/commons/thumb/3/35/Cygnus.jpg/400px-Cygnus.jpg" TargetMode="External"/><Relationship Id="rId5" Type="http://schemas.openxmlformats.org/officeDocument/2006/relationships/hyperlink" Target="http://fr.wikipedia.org/wiki/Constellation" TargetMode="External"/><Relationship Id="rId10" Type="http://schemas.openxmlformats.org/officeDocument/2006/relationships/image" Target="../media/image22.jpeg"/><Relationship Id="rId4" Type="http://schemas.openxmlformats.org/officeDocument/2006/relationships/image" Target="http://upload.wikimedia.org/wikipedia/fr/thumb/c/cc/Cygnus_constellation_map.png/290px-Cygnus_constellation_map.png" TargetMode="External"/><Relationship Id="rId9" Type="http://schemas.openxmlformats.org/officeDocument/2006/relationships/hyperlink" Target="http://fr.wikipedia.org/wiki/Image:Cygnus.jpg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Taureau_(constellation)" TargetMode="External"/><Relationship Id="rId3" Type="http://schemas.openxmlformats.org/officeDocument/2006/relationships/hyperlink" Target="http://fr.wikipedia.org/wiki/Zodiaque" TargetMode="External"/><Relationship Id="rId7" Type="http://schemas.openxmlformats.org/officeDocument/2006/relationships/hyperlink" Target="http://fr.wikipedia.org/wiki/Poissons" TargetMode="External"/><Relationship Id="rId2" Type="http://schemas.openxmlformats.org/officeDocument/2006/relationships/hyperlink" Target="http://fr.wikipedia.org/wiki/Constell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13_mai" TargetMode="External"/><Relationship Id="rId5" Type="http://schemas.openxmlformats.org/officeDocument/2006/relationships/hyperlink" Target="http://fr.wikipedia.org/wiki/19_avril" TargetMode="External"/><Relationship Id="rId10" Type="http://schemas.openxmlformats.org/officeDocument/2006/relationships/image" Target="http://upload.wikimedia.org/wikipedia/fr/thumb/5/56/Aries_constellation_map.png/290px-Aries_constellation_map.png" TargetMode="External"/><Relationship Id="rId4" Type="http://schemas.openxmlformats.org/officeDocument/2006/relationships/hyperlink" Target="http://fr.wikipedia.org/wiki/Soleil" TargetMode="External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%C3%89toile" TargetMode="External"/><Relationship Id="rId3" Type="http://schemas.openxmlformats.org/officeDocument/2006/relationships/hyperlink" Target="http://fr.wikipedia.org/wiki/Image:Triangulum_constellation_map.png" TargetMode="External"/><Relationship Id="rId7" Type="http://schemas.openxmlformats.org/officeDocument/2006/relationships/hyperlink" Target="http://fr.wikipedia.org/wiki/H%C3%A9misph%C3%A8re_nor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Constellation" TargetMode="External"/><Relationship Id="rId5" Type="http://schemas.openxmlformats.org/officeDocument/2006/relationships/image" Target="http://upload.wikimedia.org/wikipedia/fr/thumb/a/ae/Triangulum_constellation_map.png/290px-Triangulum_constellation_map.png" TargetMode="External"/><Relationship Id="rId4" Type="http://schemas.openxmlformats.org/officeDocument/2006/relationships/image" Target="../media/image24.png"/><Relationship Id="rId9" Type="http://schemas.openxmlformats.org/officeDocument/2006/relationships/hyperlink" Target="http://fr.wikipedia.org/wiki/Triangle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Verseau" TargetMode="External"/><Relationship Id="rId13" Type="http://schemas.openxmlformats.org/officeDocument/2006/relationships/hyperlink" Target="http://fr.wikipedia.org/wiki/%C3%89cliptique" TargetMode="External"/><Relationship Id="rId18" Type="http://schemas.openxmlformats.org/officeDocument/2006/relationships/image" Target="http://upload.wikimedia.org/wikipedia/fr/thumb/d/d5/Pisces_constellation_map.png/290px-Pisces_constellation_map.png" TargetMode="External"/><Relationship Id="rId3" Type="http://schemas.openxmlformats.org/officeDocument/2006/relationships/hyperlink" Target="http://fr.wikipedia.org/wiki/Constellation" TargetMode="External"/><Relationship Id="rId7" Type="http://schemas.openxmlformats.org/officeDocument/2006/relationships/hyperlink" Target="http://fr.wikipedia.org/wiki/18_avril" TargetMode="External"/><Relationship Id="rId12" Type="http://schemas.openxmlformats.org/officeDocument/2006/relationships/hyperlink" Target="http://fr.wikipedia.org/wiki/Signe_astrologique" TargetMode="External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6" Type="http://schemas.openxmlformats.org/officeDocument/2006/relationships/hyperlink" Target="http://fr.wikipedia.org/wiki/Image:Pisces_constellation_map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12_mars" TargetMode="External"/><Relationship Id="rId11" Type="http://schemas.openxmlformats.org/officeDocument/2006/relationships/hyperlink" Target="http://fr.wikipedia.org/wiki/Poissons_(astrologie)" TargetMode="External"/><Relationship Id="rId5" Type="http://schemas.openxmlformats.org/officeDocument/2006/relationships/hyperlink" Target="http://fr.wikipedia.org/wiki/Soleil" TargetMode="External"/><Relationship Id="rId15" Type="http://schemas.openxmlformats.org/officeDocument/2006/relationships/hyperlink" Target="http://fr.wikipedia.org/wiki/20_mars" TargetMode="External"/><Relationship Id="rId10" Type="http://schemas.openxmlformats.org/officeDocument/2006/relationships/hyperlink" Target="http://fr.wikipedia.org/wiki/Voie_lact%C3%A9e_(galaxie)" TargetMode="External"/><Relationship Id="rId4" Type="http://schemas.openxmlformats.org/officeDocument/2006/relationships/hyperlink" Target="http://fr.wikipedia.org/wiki/Zodiaque" TargetMode="External"/><Relationship Id="rId9" Type="http://schemas.openxmlformats.org/officeDocument/2006/relationships/hyperlink" Target="http://fr.wikipedia.org/wiki/Constellation_du_B%C3%A9lier" TargetMode="External"/><Relationship Id="rId14" Type="http://schemas.openxmlformats.org/officeDocument/2006/relationships/hyperlink" Target="http://fr.wikipedia.org/wiki/19_f%C3%A9vrier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Lion_(constellation)" TargetMode="External"/><Relationship Id="rId3" Type="http://schemas.openxmlformats.org/officeDocument/2006/relationships/hyperlink" Target="http://fr.wikipedia.org/wiki/Constellation" TargetMode="External"/><Relationship Id="rId7" Type="http://schemas.openxmlformats.org/officeDocument/2006/relationships/hyperlink" Target="http://fr.wikipedia.org/wiki/30_octobre" TargetMode="External"/><Relationship Id="rId12" Type="http://schemas.openxmlformats.org/officeDocument/2006/relationships/image" Target="http://upload.wikimedia.org/wikipedia/fr/thumb/7/77/Virgo_constellation_map.png/290px-Virgo_constellation_map.p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16_septembre" TargetMode="External"/><Relationship Id="rId11" Type="http://schemas.openxmlformats.org/officeDocument/2006/relationships/image" Target="../media/image26.png"/><Relationship Id="rId5" Type="http://schemas.openxmlformats.org/officeDocument/2006/relationships/hyperlink" Target="http://fr.wikipedia.org/wiki/Soleil" TargetMode="External"/><Relationship Id="rId10" Type="http://schemas.openxmlformats.org/officeDocument/2006/relationships/hyperlink" Target="http://fr.wikipedia.org/wiki/Image:Virgo_constellation_map.png" TargetMode="External"/><Relationship Id="rId4" Type="http://schemas.openxmlformats.org/officeDocument/2006/relationships/hyperlink" Target="http://fr.wikipedia.org/wiki/Zodiaque" TargetMode="External"/><Relationship Id="rId9" Type="http://schemas.openxmlformats.org/officeDocument/2006/relationships/hyperlink" Target="http://fr.wikipedia.org/wiki/Balance_(constellation)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%C3%89toile" TargetMode="External"/><Relationship Id="rId3" Type="http://schemas.openxmlformats.org/officeDocument/2006/relationships/hyperlink" Target="http://fr.wikipedia.org/wiki/H%C3%A9misph%C3%A8re_nord" TargetMode="External"/><Relationship Id="rId7" Type="http://schemas.openxmlformats.org/officeDocument/2006/relationships/hyperlink" Target="http://fr.wikipedia.org/wiki/Ouest_(point_cardinal)" TargetMode="External"/><Relationship Id="rId2" Type="http://schemas.openxmlformats.org/officeDocument/2006/relationships/hyperlink" Target="http://fr.wikipedia.org/wiki/Constell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Est_(point_cardinal)" TargetMode="External"/><Relationship Id="rId11" Type="http://schemas.openxmlformats.org/officeDocument/2006/relationships/image" Target="http://upload.wikimedia.org/wikipedia/fr/thumb/0/0d/Cassiopeia_constellation_map.png/290px-Cassiopeia_constellation_map.png" TargetMode="External"/><Relationship Id="rId5" Type="http://schemas.openxmlformats.org/officeDocument/2006/relationships/hyperlink" Target="http://fr.wikipedia.org/wiki/Petite_Ourse" TargetMode="External"/><Relationship Id="rId10" Type="http://schemas.openxmlformats.org/officeDocument/2006/relationships/image" Target="../media/image27.png"/><Relationship Id="rId4" Type="http://schemas.openxmlformats.org/officeDocument/2006/relationships/hyperlink" Target="http://fr.wikipedia.org/wiki/Grande_Ourse" TargetMode="External"/><Relationship Id="rId9" Type="http://schemas.openxmlformats.org/officeDocument/2006/relationships/hyperlink" Target="http://fr.wikipedia.org/wiki/Alpha_Ursae_Minoris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20_juin" TargetMode="External"/><Relationship Id="rId13" Type="http://schemas.openxmlformats.org/officeDocument/2006/relationships/hyperlink" Target="http://fr.wikipedia.org/wiki/Lynx_(constellation)" TargetMode="External"/><Relationship Id="rId18" Type="http://schemas.openxmlformats.org/officeDocument/2006/relationships/hyperlink" Target="http://fr.wikipedia.org/wiki/Orion_(constellation)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://fr.wikipedia.org/wiki/Soleil" TargetMode="External"/><Relationship Id="rId12" Type="http://schemas.openxmlformats.org/officeDocument/2006/relationships/hyperlink" Target="http://fr.wikipedia.org/wiki/Cocher_(constellation)" TargetMode="External"/><Relationship Id="rId17" Type="http://schemas.openxmlformats.org/officeDocument/2006/relationships/hyperlink" Target="http://fr.wikipedia.org/wiki/Pollux_(%C3%A9toile)" TargetMode="External"/><Relationship Id="rId2" Type="http://schemas.openxmlformats.org/officeDocument/2006/relationships/hyperlink" Target="http://fr.wikipedia.org/wiki/Image:Gemini_constellation_map.png" TargetMode="External"/><Relationship Id="rId16" Type="http://schemas.openxmlformats.org/officeDocument/2006/relationships/hyperlink" Target="http://fr.wikipedia.org/wiki/Grande_Ours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Zodiaque" TargetMode="External"/><Relationship Id="rId11" Type="http://schemas.openxmlformats.org/officeDocument/2006/relationships/hyperlink" Target="http://fr.wikipedia.org/wiki/Cancer_(constellation)" TargetMode="External"/><Relationship Id="rId5" Type="http://schemas.openxmlformats.org/officeDocument/2006/relationships/hyperlink" Target="http://fr.wikipedia.org/wiki/Constellation" TargetMode="External"/><Relationship Id="rId15" Type="http://schemas.openxmlformats.org/officeDocument/2006/relationships/hyperlink" Target="http://fr.wikipedia.org/wiki/Petit_Chien" TargetMode="External"/><Relationship Id="rId10" Type="http://schemas.openxmlformats.org/officeDocument/2006/relationships/hyperlink" Target="http://fr.wikipedia.org/wiki/Taureau_(constellation)" TargetMode="External"/><Relationship Id="rId4" Type="http://schemas.openxmlformats.org/officeDocument/2006/relationships/image" Target="http://upload.wikimedia.org/wikipedia/fr/thumb/5/58/Gemini_constellation_map.png/290px-Gemini_constellation_map.png" TargetMode="External"/><Relationship Id="rId9" Type="http://schemas.openxmlformats.org/officeDocument/2006/relationships/hyperlink" Target="http://fr.wikipedia.org/wiki/20_juillet" TargetMode="External"/><Relationship Id="rId14" Type="http://schemas.openxmlformats.org/officeDocument/2006/relationships/hyperlink" Target="http://fr.wikipedia.org/wiki/Licorne_(constellation)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Capricorne_(constellation)" TargetMode="External"/><Relationship Id="rId13" Type="http://schemas.openxmlformats.org/officeDocument/2006/relationships/hyperlink" Target="http://fr.wikipedia.org/wiki/Image:Aquarius_constellation_map.png" TargetMode="External"/><Relationship Id="rId3" Type="http://schemas.openxmlformats.org/officeDocument/2006/relationships/hyperlink" Target="http://fr.wikipedia.org/wiki/Constellation" TargetMode="External"/><Relationship Id="rId7" Type="http://schemas.openxmlformats.org/officeDocument/2006/relationships/hyperlink" Target="http://fr.wikipedia.org/wiki/11_mars" TargetMode="External"/><Relationship Id="rId12" Type="http://schemas.openxmlformats.org/officeDocument/2006/relationships/hyperlink" Target="http://fr.wikipedia.org/wiki/%C3%89ridan_(constellation)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16_f%C3%A9vrier" TargetMode="External"/><Relationship Id="rId11" Type="http://schemas.openxmlformats.org/officeDocument/2006/relationships/hyperlink" Target="http://fr.wikipedia.org/wiki/Baleine_(constellation)" TargetMode="External"/><Relationship Id="rId5" Type="http://schemas.openxmlformats.org/officeDocument/2006/relationships/hyperlink" Target="http://fr.wikipedia.org/wiki/Soleil" TargetMode="External"/><Relationship Id="rId15" Type="http://schemas.openxmlformats.org/officeDocument/2006/relationships/image" Target="http://upload.wikimedia.org/wikipedia/fr/thumb/0/01/Aquarius_constellation_map.png/290px-Aquarius_constellation_map.png" TargetMode="External"/><Relationship Id="rId10" Type="http://schemas.openxmlformats.org/officeDocument/2006/relationships/hyperlink" Target="http://fr.wikipedia.org/w/index.php?title=Mer_(astronomie)&amp;action=edit&amp;redlink=1" TargetMode="External"/><Relationship Id="rId4" Type="http://schemas.openxmlformats.org/officeDocument/2006/relationships/hyperlink" Target="http://fr.wikipedia.org/wiki/Zodiaque" TargetMode="External"/><Relationship Id="rId9" Type="http://schemas.openxmlformats.org/officeDocument/2006/relationships/hyperlink" Target="http://fr.wikipedia.org/wiki/Poissons" TargetMode="External"/><Relationship Id="rId1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G%C3%A9meaux" TargetMode="External"/><Relationship Id="rId13" Type="http://schemas.openxmlformats.org/officeDocument/2006/relationships/hyperlink" Target="http://fr.wikipedia.org/wiki/Image:Cancer_constellation_map.png" TargetMode="External"/><Relationship Id="rId3" Type="http://schemas.openxmlformats.org/officeDocument/2006/relationships/hyperlink" Target="http://fr.wikipedia.org/wiki/Constellation" TargetMode="External"/><Relationship Id="rId7" Type="http://schemas.openxmlformats.org/officeDocument/2006/relationships/hyperlink" Target="http://fr.wikipedia.org/wiki/10_ao%C3%BBt" TargetMode="External"/><Relationship Id="rId12" Type="http://schemas.openxmlformats.org/officeDocument/2006/relationships/hyperlink" Target="http://fr.wikipedia.org/wiki/Petit_Chie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20_juillet" TargetMode="External"/><Relationship Id="rId11" Type="http://schemas.openxmlformats.org/officeDocument/2006/relationships/hyperlink" Target="http://fr.wikipedia.org/wiki/Hydre_(constellation)" TargetMode="External"/><Relationship Id="rId5" Type="http://schemas.openxmlformats.org/officeDocument/2006/relationships/hyperlink" Target="http://fr.wikipedia.org/wiki/Soleil" TargetMode="External"/><Relationship Id="rId15" Type="http://schemas.openxmlformats.org/officeDocument/2006/relationships/image" Target="http://upload.wikimedia.org/wikipedia/fr/thumb/4/49/Cancer_constellation_map.png/290px-Cancer_constellation_map.png" TargetMode="External"/><Relationship Id="rId10" Type="http://schemas.openxmlformats.org/officeDocument/2006/relationships/hyperlink" Target="http://fr.wikipedia.org/wiki/Lynx_(constellation)" TargetMode="External"/><Relationship Id="rId4" Type="http://schemas.openxmlformats.org/officeDocument/2006/relationships/hyperlink" Target="http://fr.wikipedia.org/wiki/Zodiaque" TargetMode="External"/><Relationship Id="rId9" Type="http://schemas.openxmlformats.org/officeDocument/2006/relationships/hyperlink" Target="http://fr.wikipedia.org/wiki/Lion_(constellation)" TargetMode="External"/><Relationship Id="rId1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fr.wikipedia.org/wiki/Ptol%C3%A9m%C3%A9e" TargetMode="External"/><Relationship Id="rId13" Type="http://schemas.openxmlformats.org/officeDocument/2006/relationships/image" Target="../media/image31.png"/><Relationship Id="rId3" Type="http://schemas.openxmlformats.org/officeDocument/2006/relationships/hyperlink" Target="http://fr.wikipedia.org/wiki/Constellation" TargetMode="External"/><Relationship Id="rId7" Type="http://schemas.openxmlformats.org/officeDocument/2006/relationships/hyperlink" Target="http://fr.wikipedia.org/wiki/%C3%89gypte_antique" TargetMode="External"/><Relationship Id="rId12" Type="http://schemas.openxmlformats.org/officeDocument/2006/relationships/hyperlink" Target="http://fr.wikipedia.org/wiki/Image:Piscis_austrinus_constellation_map.p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Alpha_Piscis_Austrini" TargetMode="External"/><Relationship Id="rId11" Type="http://schemas.openxmlformats.org/officeDocument/2006/relationships/hyperlink" Target="http://fr.wikipedia.org/wiki/H%C3%A9misph%C3%A8re_nord" TargetMode="External"/><Relationship Id="rId5" Type="http://schemas.openxmlformats.org/officeDocument/2006/relationships/hyperlink" Target="http://fr.wikipedia.org/wiki/%C3%89toile" TargetMode="External"/><Relationship Id="rId10" Type="http://schemas.openxmlformats.org/officeDocument/2006/relationships/hyperlink" Target="http://fr.wikipedia.org/wiki/Poissons" TargetMode="External"/><Relationship Id="rId4" Type="http://schemas.openxmlformats.org/officeDocument/2006/relationships/hyperlink" Target="http://fr.wikipedia.org/wiki/H%C3%A9misph%C3%A8re_sud" TargetMode="External"/><Relationship Id="rId9" Type="http://schemas.openxmlformats.org/officeDocument/2006/relationships/hyperlink" Target="http://fr.wikipedia.org/wiki/Almageste" TargetMode="External"/><Relationship Id="rId14" Type="http://schemas.openxmlformats.org/officeDocument/2006/relationships/image" Target="http://upload.wikimedia.org/wikipedia/fr/thumb/9/9e/Piscis_austrinus_constellation_map.png/290px-Piscis_austrinus_constellation_map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63306"/>
            <a:ext cx="10997242" cy="2190375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>
                <a:latin typeface="Blackoak Std" panose="04050907060602020202" pitchFamily="82" charset="0"/>
              </a:rPr>
              <a:t>CONSTELATION</a:t>
            </a:r>
            <a:endParaRPr lang="fr-FR" sz="4000" dirty="0">
              <a:latin typeface="Blackoak Std" panose="04050907060602020202" pitchFamily="82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87009" y="5702844"/>
            <a:ext cx="68049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dirty="0" smtClean="0">
                <a:latin typeface="Arial" panose="020B0604020202020204" pitchFamily="34" charset="0"/>
              </a:rPr>
              <a:t>Coyote Obéissant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75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http://fr.wikipedia.org/skins-1.5/common/images/magnify-clip.png">
            <a:hlinkClick r:id="rId2" tooltip="Agrandir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8925"/>
            <a:ext cx="142875" cy="10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3825" y="3482079"/>
            <a:ext cx="568840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massue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d'Orion est beaucoup plus faible et plus difficile à tracer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(et sans grand intérêt). Elle se situe au pied des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Gémeaux"/>
              </a:rPr>
              <a:t>Gémeaux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et l'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extrêmité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la massue forme un petit alignement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vers ζ Tau, le nez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Taureau (constellation)"/>
              </a:rPr>
              <a:t>Taureau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23717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0" y="203626"/>
            <a:ext cx="27574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ORION</a:t>
            </a:r>
            <a:endParaRPr kumimoji="0" lang="fr-FR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 descr="Johannes Hevelius , Uranographia, 169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25" y="535140"/>
            <a:ext cx="3835622" cy="248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 descr="http://upload.wikimedia.org/wikipedia/fr/thumb/5/5d/Orion_constellation_map.png/290px-Orion_constellation_map.png">
            <a:hlinkClick r:id="rId8" tooltip="&quot;Orion constellation map.png&quot;"/>
          </p:cNvPr>
          <p:cNvPicPr>
            <a:picLocks noChangeAspect="1" noChangeArrowheads="1"/>
          </p:cNvPicPr>
          <p:nvPr/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868" y="1718571"/>
            <a:ext cx="5377132" cy="509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97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17598" y="795572"/>
            <a:ext cx="5817708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Orion est très utile pour déterminer la position d'autres étoiles. En prolongeant la ligne de la Ceinture au sud-ouest, on trouve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 tooltip="Sirius"/>
              </a:rPr>
              <a:t>Sirius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(α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Grand Chien"/>
              </a:rPr>
              <a:t>Canis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Grand Chien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Grand Chien"/>
              </a:rPr>
              <a:t>Majoris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 ; au nord-est, on trouve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Alpha Tauri"/>
              </a:rPr>
              <a:t>Aldébaran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(α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Taureau (constellation)"/>
              </a:rPr>
              <a:t>Tauri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 Une ligne vers l'est à travers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Bételgeuse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Bellatrix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indique la direction de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Alpha Canis Minoris"/>
              </a:rPr>
              <a:t>Procyon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(α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Petit Chien"/>
              </a:rPr>
              <a:t>Canis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Petit Chien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Petit Chien"/>
              </a:rPr>
              <a:t>Minoris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 Une ligne partant de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Rigel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travers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Bételgeuse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indique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Castor (étoile)"/>
              </a:rPr>
              <a:t>Castor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Beta Geminorum"/>
              </a:rPr>
              <a:t>Pollux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(α et β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Gémeaux"/>
              </a:rPr>
              <a:t>Geminorum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Guide d'Orion">
            <a:hlinkClick r:id="rId11" tooltip="&quot;Guide d'Orion&quot;"/>
          </p:cNvPr>
          <p:cNvPicPr>
            <a:picLocks noChangeAspect="1" noChangeArrowheads="1"/>
          </p:cNvPicPr>
          <p:nvPr/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15" y="968604"/>
            <a:ext cx="5110499" cy="570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59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http://upload.wikimedia.org/wikipedia/fr/thumb/5/52/Scorpius_constellation_map.png/290px-Scorpius_constellation_map.png">
            <a:hlinkClick r:id="rId2" tooltip="&quot;Scorpius constellation map.png&quot;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880" y="1901748"/>
            <a:ext cx="5072434" cy="45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0" y="244355"/>
            <a:ext cx="5257800" cy="1325563"/>
          </a:xfrm>
        </p:spPr>
        <p:txBody>
          <a:bodyPr/>
          <a:lstStyle/>
          <a:p>
            <a:pPr algn="ctr"/>
            <a:r>
              <a:rPr lang="fr-FR" b="1" dirty="0" smtClean="0"/>
              <a:t>SCORPION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428625" y="1901748"/>
            <a:ext cx="56673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Scorpion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est une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 tooltip="Constellation"/>
              </a:rPr>
              <a:t>constellation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 tooltip="Zodiaque"/>
              </a:rPr>
              <a:t>zodiaque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traversée par le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7" tooltip="Soleil"/>
              </a:rPr>
              <a:t>Soleil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8" tooltip="23 octobre"/>
              </a:rPr>
              <a:t>23 octobre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au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9" tooltip="29 novembre"/>
              </a:rPr>
              <a:t>29 novembre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Dans l'ordre du zodiaque, il se situe entre la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0" tooltip="Balance (constellation)"/>
              </a:rPr>
              <a:t>Balance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l'ouest et le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1" tooltip="Sagittaire (constellation)"/>
              </a:rPr>
              <a:t>Sagittaire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l'est. Il se trouve dans l’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2" tooltip="Hémisphère sud"/>
              </a:rPr>
              <a:t>hémisphère sud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très largement sous l'écliptique.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04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7200" dirty="0" smtClean="0"/>
              <a:t>BALANCE</a:t>
            </a:r>
            <a:endParaRPr lang="fr-FR" sz="7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9575" y="2811899"/>
            <a:ext cx="56864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Balance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Zodiaque"/>
              </a:rPr>
              <a:t>zodiaque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traversée par le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Soleil"/>
              </a:rPr>
              <a:t>Soleil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31 octobre"/>
              </a:rPr>
              <a:t>31 octobre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22 novembre"/>
              </a:rPr>
              <a:t>22 novembre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Dans l'ordre du zodiaque, elle se situe entre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Vierge (constellation)"/>
              </a:rPr>
              <a:t>Vierge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l'ouest et le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Scorpion (constellation)"/>
              </a:rPr>
              <a:t>Scorpion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l'est.</a:t>
            </a:r>
          </a:p>
        </p:txBody>
      </p:sp>
      <p:pic>
        <p:nvPicPr>
          <p:cNvPr id="4098" name="Picture 2" descr="290px-Libra_constellation_map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359" y="2134769"/>
            <a:ext cx="5103331" cy="446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116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86086" y="365125"/>
            <a:ext cx="5167713" cy="1325563"/>
          </a:xfrm>
        </p:spPr>
        <p:txBody>
          <a:bodyPr/>
          <a:lstStyle/>
          <a:p>
            <a:pPr algn="ctr"/>
            <a:r>
              <a:rPr lang="fr-FR" dirty="0" smtClean="0"/>
              <a:t>SAGITTAIRE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57187" y="3862387"/>
            <a:ext cx="53346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Sagittaire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(ce terme signifie « l’Archer ») est une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 tooltip="Constellation"/>
              </a:rPr>
              <a:t>constellation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 tooltip="Zodiaque"/>
              </a:rPr>
              <a:t>zodiaque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traversée par le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 tooltip="Soleil"/>
              </a:rPr>
              <a:t>Soleil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 tooltip="18 décembre"/>
              </a:rPr>
              <a:t>18 décembre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au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 tooltip="18 janvier"/>
              </a:rPr>
              <a:t>18 janvier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Dans l'ordre du zodiaque, la constellation se situe entre le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7" tooltip="Scorpion (constellation)"/>
              </a:rPr>
              <a:t>Scorpion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l'ouest et le </a:t>
            </a:r>
            <a:r>
              <a:rPr lang="fr-FR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8" tooltip="Capricorne (constellation)"/>
              </a:rPr>
              <a:t>Capricorne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l'est.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49" name="Picture 1" descr="http://upload.wikimedia.org/wikipedia/fr/thumb/8/80/Sagittarius_constellation_map.png/290px-Sagittarius_constellation_map.png">
            <a:hlinkClick r:id="rId9" tooltip="&quot;Sagittarius constellation map.png&quot;"/>
          </p:cNvPr>
          <p:cNvPicPr>
            <a:picLocks noChangeAspect="1" noChangeArrowheads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50" y="2346385"/>
            <a:ext cx="5902450" cy="428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0" y="3028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050" name="Picture 2" descr="http://upload.wikimedia.org/wikipedia/commons/thumb/8/8d/Sagittarius_Hevelius.jpg/300px-Sagittarius_Hevelius.jpg">
            <a:hlinkClick r:id="rId12" tooltip="&quot;Sagittarius Hevelius.jpg&quot;"/>
          </p:cNvPr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6" y="365125"/>
            <a:ext cx="4451008" cy="274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22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325563"/>
          </a:xfrm>
        </p:spPr>
        <p:txBody>
          <a:bodyPr/>
          <a:lstStyle/>
          <a:p>
            <a:pPr algn="ctr"/>
            <a:r>
              <a:rPr lang="fr-FR" dirty="0" smtClean="0"/>
              <a:t>CROIX DU SUD</a:t>
            </a:r>
            <a:endParaRPr lang="fr-FR" dirty="0"/>
          </a:p>
        </p:txBody>
      </p:sp>
      <p:pic>
        <p:nvPicPr>
          <p:cNvPr id="3073" name="Picture 1" descr="http://upload.wikimedia.org/wikipedia/fr/e/e3/Crux_constellation_map.png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788" y="1864564"/>
            <a:ext cx="5607169" cy="487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9487" y="1690688"/>
            <a:ext cx="549394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Croix du Sud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petite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l'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Hémisphère sud"/>
              </a:rPr>
              <a:t>hémisphère sud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 plus petite de toutes les constellations.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Elle est entourée sur trois côtés par le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Centaure (constellation)"/>
              </a:rPr>
              <a:t>Centaure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au sud par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Mouche (constellation)"/>
              </a:rPr>
              <a:t>Mouche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it-IT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Croix du Sud est utile pour trouver le </a:t>
            </a:r>
            <a:r>
              <a:rPr kumimoji="0" lang="it-IT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Pôle céleste"/>
              </a:rPr>
              <a:t>pôle sud céleste</a:t>
            </a:r>
            <a:r>
              <a:rPr kumimoji="0" lang="it-IT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kumimoji="0" lang="it-IT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01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62776" y="365125"/>
            <a:ext cx="5091023" cy="1325563"/>
          </a:xfrm>
        </p:spPr>
        <p:txBody>
          <a:bodyPr/>
          <a:lstStyle/>
          <a:p>
            <a:pPr algn="ctr"/>
            <a:r>
              <a:rPr lang="fr-FR" b="1" dirty="0" smtClean="0"/>
              <a:t>CENTAURE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89" y="755950"/>
            <a:ext cx="6186487" cy="4351338"/>
          </a:xfrm>
        </p:spPr>
        <p:txBody>
          <a:bodyPr>
            <a:noAutofit/>
          </a:bodyPr>
          <a:lstStyle/>
          <a:p>
            <a:pPr algn="just"/>
            <a:r>
              <a:rPr lang="fr-FR" dirty="0"/>
              <a:t>Le </a:t>
            </a:r>
            <a:r>
              <a:rPr lang="fr-FR" b="1" dirty="0"/>
              <a:t>Centaure</a:t>
            </a:r>
            <a:r>
              <a:rPr lang="fr-FR" dirty="0"/>
              <a:t> est une </a:t>
            </a:r>
            <a:r>
              <a:rPr lang="fr-FR" u="sng" dirty="0">
                <a:hlinkClick r:id="rId2" tooltip="Constellation"/>
              </a:rPr>
              <a:t>constellation</a:t>
            </a:r>
            <a:r>
              <a:rPr lang="fr-FR" dirty="0"/>
              <a:t> de l'</a:t>
            </a:r>
            <a:r>
              <a:rPr lang="fr-FR" u="sng" dirty="0">
                <a:hlinkClick r:id="rId3" tooltip="Hémisphère sud"/>
              </a:rPr>
              <a:t>hémisphère sud</a:t>
            </a:r>
            <a:r>
              <a:rPr lang="fr-FR" dirty="0"/>
              <a:t>, l'une des plus vastes du ciel. Elle contient un nombre assez considérable d'</a:t>
            </a:r>
            <a:r>
              <a:rPr lang="fr-FR" u="sng" dirty="0">
                <a:hlinkClick r:id="rId4" tooltip="Étoile"/>
              </a:rPr>
              <a:t>étoiles</a:t>
            </a:r>
            <a:r>
              <a:rPr lang="fr-FR" dirty="0"/>
              <a:t> brillantes, 10 d'entre elles dépassant la </a:t>
            </a:r>
            <a:r>
              <a:rPr lang="fr-FR" u="sng" dirty="0">
                <a:hlinkClick r:id="rId5" tooltip="Magnitude apparente"/>
              </a:rPr>
              <a:t>magnitude apparente</a:t>
            </a:r>
            <a:r>
              <a:rPr lang="fr-FR" dirty="0"/>
              <a:t> 3</a:t>
            </a:r>
            <a:r>
              <a:rPr lang="fr-FR" dirty="0" smtClean="0"/>
              <a:t>.</a:t>
            </a:r>
          </a:p>
          <a:p>
            <a:pPr algn="just"/>
            <a:r>
              <a:rPr lang="fr-FR" dirty="0"/>
              <a:t>Le Centaure est une vision splendide du ciel austral, par son nombre d'étoiles brillantes, mais sa forme générale n'est pas très facile à tracer. Il n'est bien visible que pour les observateurs situés suffisamment au sud, en pratique au moins sous les tropiques.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fr-FR" dirty="0"/>
          </a:p>
        </p:txBody>
      </p:sp>
      <p:pic>
        <p:nvPicPr>
          <p:cNvPr id="7169" name="Picture 1" descr="http://upload.wikimedia.org/wikipedia/commons/thumb/d/d1/Centaurus_carte.svg/290px-Centaurus_carte.svg.png">
            <a:hlinkClick r:id="rId6" tooltip="&quot;Centaurus carte.svg&quot;"/>
          </p:cNvPr>
          <p:cNvPicPr>
            <a:picLocks noChangeAspect="1" noChangeArrowheads="1"/>
          </p:cNvPicPr>
          <p:nvPr/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367" y="2363924"/>
            <a:ext cx="5557003" cy="427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37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64966" y="365125"/>
            <a:ext cx="6988834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COURONNE AUSTRALE</a:t>
            </a:r>
            <a:endParaRPr lang="fr-FR" dirty="0"/>
          </a:p>
        </p:txBody>
      </p:sp>
      <p:pic>
        <p:nvPicPr>
          <p:cNvPr id="4097" name="Picture 1" descr="http://upload.wikimedia.org/wikipedia/fr/thumb/3/32/Corona_australis_constellation_map.png/290px-Corona_australis_constellation_map.png">
            <a:hlinkClick r:id="rId2" tooltip="&quot;Corona australis constellation map.png&quot;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740" y="2290870"/>
            <a:ext cx="5572125" cy="450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05740" y="1082838"/>
            <a:ext cx="516445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Couronne australe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petite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l'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Hémisphère sud"/>
              </a:rPr>
              <a:t>hémisphère sud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05740" y="3390900"/>
            <a:ext cx="60960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C'est une constellation faible (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4 à 5) et sa forme est nettement moins marquante que sa sœur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Couronne boréale"/>
              </a:rPr>
              <a:t>Couronne boréale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La constellation se repère à partir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Scorpion (constellation)"/>
              </a:rPr>
              <a:t>Scorpion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plein Est par rapport à la queue, et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Sagittaire (constellation)"/>
              </a:rPr>
              <a:t>Sagittaire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plein Sud par rapport au cou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Sigma Sagittarii"/>
              </a:rPr>
              <a:t>Nunki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59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78642" y="365125"/>
            <a:ext cx="4775157" cy="1325563"/>
          </a:xfrm>
        </p:spPr>
        <p:txBody>
          <a:bodyPr/>
          <a:lstStyle/>
          <a:p>
            <a:pPr lvl="0"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GRANDE OURSE</a:t>
            </a:r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pic>
        <p:nvPicPr>
          <p:cNvPr id="8194" name="Picture 2" descr="http://upload.wikimedia.org/wikipedia/fr/thumb/c/c0/Ursa_major_constellation_map.png/290px-Ursa_major_constellation_map.png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904" y="1546860"/>
            <a:ext cx="5456853" cy="368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3" name="Picture 1" descr="http://upload.wikimedia.org/wikipedia/commons/thumb/4/4e/Ursa_Major_constellation_Hevelius.jpg/200px-Ursa_Major_constellation_Hevelius.jpg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4" y="172021"/>
            <a:ext cx="3909695" cy="23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946650" y="23209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76388" y="2638899"/>
            <a:ext cx="579884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Grande Ourse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la troisième plus grande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Constellation"/>
              </a:rPr>
              <a:t>constellation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ciel. Elle contient le « grand chariot », l'un des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Astérisme"/>
              </a:rPr>
              <a:t>astérismes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les plus connus de l'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Hémisphère nord"/>
              </a:rPr>
              <a:t>hémisphère nord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Elle est très facilement reconnaissable par la forme de casserole que composent ses sept plus brillantes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Étoile"/>
              </a:rPr>
              <a:t>étoiles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07904" y="5644785"/>
            <a:ext cx="85048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La Grande Ourse est une constellation 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hlinkClick r:id="rId10" tooltip="Circumpolaire"/>
              </a:rPr>
              <a:t>circumpolaire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 pour les observateurs situés au-dessus de 41° de 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hlinkClick r:id="rId11" tooltip="Latitude"/>
              </a:rPr>
              <a:t>latitude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 nord et elle ne semble jamais se coucher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8551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66957" y="165192"/>
            <a:ext cx="3814313" cy="1325563"/>
          </a:xfrm>
        </p:spPr>
        <p:txBody>
          <a:bodyPr/>
          <a:lstStyle/>
          <a:p>
            <a:pPr algn="ctr"/>
            <a:r>
              <a:rPr lang="fr-FR" b="1" dirty="0" smtClean="0"/>
              <a:t>LION</a:t>
            </a:r>
            <a:endParaRPr lang="fr-FR" b="1" dirty="0"/>
          </a:p>
        </p:txBody>
      </p:sp>
      <p:pic>
        <p:nvPicPr>
          <p:cNvPr id="9217" name="Picture 1" descr="http://upload.wikimedia.org/wikipedia/fr/thumb/d/de/Leo_constellation_map.png/290px-Leo_constellation_map.png">
            <a:hlinkClick r:id="rId3" tooltip="&quot;Leo constellation map.png&quot;"/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803" y="1564887"/>
            <a:ext cx="5464267" cy="423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6723" y="703679"/>
            <a:ext cx="56492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Constellation"/>
              </a:rPr>
              <a:t>constellation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Zodiaque"/>
              </a:rPr>
              <a:t>zodiaque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traversée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Soleil"/>
              </a:rPr>
              <a:t>Soleil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10 août"/>
              </a:rPr>
              <a:t>10 août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16 septembre"/>
              </a:rPr>
              <a:t>16 septembre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Dans l'ordre du zodiaque, elle se situe entre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 tooltip="Cancer (constellation)"/>
              </a:rPr>
              <a:t>Cancer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l'ouest et la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 tooltip="Vierge (constellation)"/>
              </a:rPr>
              <a:t>Vierge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l'est.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Cette constellation contient plusieurs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3" tooltip="Étoile"/>
              </a:rPr>
              <a:t>étoiles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brillantes, telles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4" tooltip="Alpha Leonis"/>
              </a:rPr>
              <a:t>Régulus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(α 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Leonis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le cœur du Lion, et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5" tooltip="Beta Leonis"/>
              </a:rPr>
              <a:t>Denebola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(β 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Leonis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sa queue.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724" y="5842337"/>
            <a:ext cx="115583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Lion peut être localisé à partir de la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6" tooltip="Grande Ourse"/>
              </a:rPr>
              <a:t>Grande Ourse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en prenant l'alignement des deux étoiles internes à la "casserole".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26038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8532" y="365125"/>
            <a:ext cx="4885267" cy="1325563"/>
          </a:xfrm>
        </p:spPr>
        <p:txBody>
          <a:bodyPr/>
          <a:lstStyle/>
          <a:p>
            <a:pPr algn="ctr"/>
            <a:r>
              <a:rPr lang="fr-FR" dirty="0" smtClean="0"/>
              <a:t>TAUREAU</a:t>
            </a:r>
            <a:endParaRPr lang="fr-FR" dirty="0"/>
          </a:p>
        </p:txBody>
      </p:sp>
      <p:pic>
        <p:nvPicPr>
          <p:cNvPr id="12289" name="Picture 1" descr="http://upload.wikimedia.org/wikipedia/fr/thumb/a/a1/Taurus_constellation_map.png/290px-Taurus_constellation_map.png">
            <a:hlinkClick r:id="rId3" tooltip="&quot;Taurus constellation map.png&quot;"/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245" y="2260121"/>
            <a:ext cx="5719236" cy="431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8811" y="3152001"/>
            <a:ext cx="587718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Taureau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Constellation"/>
              </a:rPr>
              <a:t>constellation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Zodiaque"/>
              </a:rPr>
              <a:t>zodiaque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traversée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Soleil"/>
              </a:rPr>
              <a:t>Soleil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14 mai"/>
              </a:rPr>
              <a:t>14 mai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2007 au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22 juin"/>
              </a:rPr>
              <a:t>22 juin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2007. Dans l'ordre du zodiaque, la constellation se situe entre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 tooltip="Bélier (constellation)"/>
              </a:rPr>
              <a:t>Bélier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l'ouest et les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 tooltip="Gémeaux"/>
              </a:rPr>
              <a:t>Gémeaux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l'est.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3" tooltip="Taureau (astrologie)"/>
              </a:rPr>
              <a:t>Taureau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également un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4" tooltip="Signe astrologique"/>
              </a:rPr>
              <a:t>signe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Zodiaque"/>
              </a:rPr>
              <a:t>zodiaque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correspondant au secteur de 30° de l'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5" tooltip="Écliptique"/>
              </a:rPr>
              <a:t>écliptique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Soleil"/>
              </a:rPr>
              <a:t>Soleil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6" tooltip="20 avril"/>
              </a:rPr>
              <a:t>20 avril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7" tooltip="20 mai"/>
              </a:rPr>
              <a:t>20 mai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2293" name="Picture 5" descr="http://upload.wikimedia.org/wikipedia/commons/thumb/d/d5/Taurus_by_Johannes_Hevelius.JPG/400px-Taurus_by_Johannes_Hevelius.JPG">
            <a:hlinkClick r:id="rId18" tooltip="&quot;Taurus by Johannes Hevelius.JPG&quot;"/>
          </p:cNvPr>
          <p:cNvPicPr>
            <a:picLocks noChangeAspect="1" noChangeArrowheads="1"/>
          </p:cNvPicPr>
          <p:nvPr/>
        </p:nvPicPr>
        <p:blipFill>
          <a:blip r:embed="rId19" r:link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1"/>
            <a:ext cx="3393523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2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71823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PETITE OURSE</a:t>
            </a:r>
            <a:endParaRPr lang="fr-FR" dirty="0"/>
          </a:p>
        </p:txBody>
      </p:sp>
      <p:pic>
        <p:nvPicPr>
          <p:cNvPr id="10241" name="Picture 1" descr="http://upload.wikimedia.org/wikipedia/fr/thumb/1/1d/Ursa_minor_constellation_map.png/290px-Ursa_minor_constellation_map.png">
            <a:hlinkClick r:id="rId3" tooltip="&quot;Ursa minor constellation map.png&quot;"/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579" y="2434870"/>
            <a:ext cx="5618698" cy="430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30403" y="2926489"/>
            <a:ext cx="5699152" cy="3600986"/>
          </a:xfrm>
          <a:prstGeom prst="rect">
            <a:avLst/>
          </a:prstGeom>
          <a:solidFill>
            <a:srgbClr val="FFFF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La constellation de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Petite Ourse, bien qu'elle soit d'origine antique (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Ptolémée"/>
              </a:rPr>
              <a:t>Ptolémée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 cataloguait dans son </a:t>
            </a:r>
            <a:r>
              <a:rPr kumimoji="0" lang="fr-F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Almageste"/>
              </a:rPr>
              <a:t>Almageste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n'avait pas à cette époque l'intérêt qu'elle présente maintenant puisqu'elle n'indiquait pas du tout le pôle nord céleste. 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48045" y="427741"/>
            <a:ext cx="71962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lang="fr-FR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Petite Ourse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hlinkClick r:id="rId8" tooltip="Constellation"/>
              </a:rPr>
              <a:t>constellation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 assez petite et faiblement lumineuse, qui doit sa célébrité à sa plus brillante étoile, 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hlinkClick r:id="rId9" tooltip="Alpha Ursae Minoris"/>
              </a:rPr>
              <a:t>α </a:t>
            </a:r>
            <a:r>
              <a:rPr lang="fr-FR" sz="2400" dirty="0" err="1">
                <a:latin typeface="Arial" panose="020B0604020202020204" pitchFamily="34" charset="0"/>
                <a:ea typeface="Times New Roman" panose="02020603050405020304" pitchFamily="18" charset="0"/>
                <a:hlinkClick r:id="rId9" tooltip="Alpha Ursae Minoris"/>
              </a:rPr>
              <a:t>Ursae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hlinkClick r:id="rId9" tooltip="Alpha Ursae Minoris"/>
              </a:rPr>
              <a:t> </a:t>
            </a:r>
            <a:r>
              <a:rPr lang="fr-FR" sz="2400" dirty="0" err="1">
                <a:latin typeface="Arial" panose="020B0604020202020204" pitchFamily="34" charset="0"/>
                <a:ea typeface="Times New Roman" panose="02020603050405020304" pitchFamily="18" charset="0"/>
                <a:hlinkClick r:id="rId9" tooltip="Alpha Ursae Minoris"/>
              </a:rPr>
              <a:t>Minoris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, qui est l'étoile marquant le 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hlinkClick r:id="rId10" tooltip="Pôle céleste"/>
              </a:rPr>
              <a:t>pôle nord céleste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5662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516" y="365125"/>
            <a:ext cx="6678283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COURONNE BORÉALE</a:t>
            </a:r>
            <a:endParaRPr lang="fr-FR" dirty="0"/>
          </a:p>
        </p:txBody>
      </p:sp>
      <p:pic>
        <p:nvPicPr>
          <p:cNvPr id="5121" name="Picture 1" descr="http://upload.wikimedia.org/wikipedia/fr/thumb/c/c8/Corona_borealis_constellation_map.png/290px-Corona_borealis_constellation_map.png">
            <a:hlinkClick r:id="rId2" tooltip="&quot;Corona borealis constellation map.png&quot;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2138566"/>
            <a:ext cx="5631079" cy="444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21671" y="1690688"/>
            <a:ext cx="559066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Couronne boréale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petite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l'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Hémisphère nord"/>
              </a:rPr>
              <a:t>hémisphère nord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Elle est effectivement formée d'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Étoile"/>
              </a:rPr>
              <a:t>étoiles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disposées en un arc-de-cercle, l'étoile centrale,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Alphecca"/>
              </a:rPr>
              <a:t>Alphecca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étant la plus brillante et formant le diadème. Elle est le pendant septentrional de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Couronne australe"/>
              </a:rPr>
              <a:t>Couronne australe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34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62052" y="365125"/>
            <a:ext cx="5091748" cy="1325563"/>
          </a:xfrm>
        </p:spPr>
        <p:txBody>
          <a:bodyPr/>
          <a:lstStyle/>
          <a:p>
            <a:pPr algn="ctr"/>
            <a:r>
              <a:rPr lang="fr-FR" b="1" dirty="0" smtClean="0"/>
              <a:t>SERPENT</a:t>
            </a:r>
            <a:endParaRPr lang="fr-FR" b="1" dirty="0"/>
          </a:p>
        </p:txBody>
      </p:sp>
      <p:pic>
        <p:nvPicPr>
          <p:cNvPr id="11265" name="Picture 1" descr="http://upload.wikimedia.org/wikipedia/fr/thumb/9/91/Serpens_constellation_map.png/290px-Serpens_constellation_map.png">
            <a:hlinkClick r:id="rId3" tooltip="&quot;Serpens constellation map.png&quot;"/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03058"/>
            <a:ext cx="5929948" cy="432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6054" y="677495"/>
            <a:ext cx="606599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Serpent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Constellation"/>
              </a:rPr>
              <a:t>constellation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qui représente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Serpent"/>
              </a:rPr>
              <a:t>serpent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dompté par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Ophiuchus"/>
              </a:rPr>
              <a:t>Ophiuchus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le Serpentaire.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C’est la seule constellation divisée en deux parties ; la Tête et la Queue du Serpent sont séparées par l’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entreposition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d’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Ophiuchus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mais leurs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Étoile"/>
              </a:rPr>
              <a:t>étoiles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sont nommés comme si elles faisaient partie d’une zone contiguë et la désignation 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génitive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FR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Serpentis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utilisée pour toutes les deux.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Tête du Serpent se trouve principalement dans l’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Hémisphère nord"/>
              </a:rPr>
              <a:t>hémisphère céleste nord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 Queue du Serpent essentiellement dans l’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 tooltip="Hémisphère sud"/>
              </a:rPr>
              <a:t>hémisphère céleste sud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1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http://upload.wikimedia.org/wikipedia/fr/thumb/1/1e/Pegasus_constellation_map.png/290px-Pegasus_constellation_map.png">
            <a:hlinkClick r:id="rId2" tooltip="&quot;Pegasus constellation map.png&quot;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113" y="2516831"/>
            <a:ext cx="5217437" cy="408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19113" y="545157"/>
            <a:ext cx="6096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Pégase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l'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Hémisphère nord"/>
              </a:rPr>
              <a:t>hémisphère nord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située au nord d'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Andromède (constellation)"/>
              </a:rPr>
              <a:t>Andromède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au sud-est des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Poissons"/>
              </a:rPr>
              <a:t>Poissons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au sud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Verseau"/>
              </a:rPr>
              <a:t>Verseau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11816" y="129659"/>
            <a:ext cx="251222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PÉGASE</a:t>
            </a:r>
            <a:endParaRPr lang="fr-FR" sz="4800" dirty="0"/>
          </a:p>
        </p:txBody>
      </p:sp>
      <p:sp>
        <p:nvSpPr>
          <p:cNvPr id="8" name="Rectangle 7"/>
          <p:cNvSpPr/>
          <p:nvPr/>
        </p:nvSpPr>
        <p:spPr>
          <a:xfrm>
            <a:off x="304398" y="3429000"/>
            <a:ext cx="579160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constellation se dessine à partir du </a:t>
            </a:r>
            <a:r>
              <a:rPr lang="fr-FR" sz="2400" u="sng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0" tooltip="Grand carré de Pégase"/>
              </a:rPr>
              <a:t>Grand carré de Pégase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Les trois étoiles les plus brillantes de Pégase forment, avec </a:t>
            </a:r>
            <a:r>
              <a:rPr lang="fr-FR" sz="2400" u="sng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1" tooltip="Alpha Andromedae"/>
              </a:rPr>
              <a:t>α And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(ou </a:t>
            </a:r>
            <a:r>
              <a:rPr lang="fr-FR" sz="2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Alpheratz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ou </a:t>
            </a:r>
            <a:r>
              <a:rPr lang="fr-FR" sz="2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Sirrah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un </a:t>
            </a:r>
            <a:r>
              <a:rPr lang="fr-FR" sz="2400" u="sng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2" tooltip="Astérisme"/>
              </a:rPr>
              <a:t>astérisme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appelé le « Carré de Pégase », caractéristique de la constellation. </a:t>
            </a:r>
            <a:r>
              <a:rPr lang="fr-FR" sz="2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Sirrah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était autrefois rattachée à Pégase sous la désignation δ </a:t>
            </a:r>
            <a:r>
              <a:rPr lang="fr-FR" sz="2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Pegasi</a:t>
            </a:r>
            <a:r>
              <a:rPr lang="fr-FR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(ce qui explique son absence dans la nomenclature moderne).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5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6876" y="0"/>
            <a:ext cx="3234752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CYGNE</a:t>
            </a:r>
            <a:endParaRPr lang="fr-FR" dirty="0"/>
          </a:p>
        </p:txBody>
      </p:sp>
      <p:pic>
        <p:nvPicPr>
          <p:cNvPr id="6145" name="Picture 1" descr="http://upload.wikimedia.org/wikipedia/fr/thumb/c/cc/Cygnus_constellation_map.png/290px-Cygnus_constellation_map.png">
            <a:hlinkClick r:id="rId2" tooltip="&quot;Cygnus constellation map.png&quot;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0" y="2445542"/>
            <a:ext cx="5128385" cy="427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16906" y="1027906"/>
            <a:ext cx="5599219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Cygne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grande et brillante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parfois appelée la </a:t>
            </a:r>
            <a:r>
              <a:rPr kumimoji="0" lang="fr-F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Croix du nord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(en référence à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Croix du Sud"/>
              </a:rPr>
              <a:t>Croix du Sud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car ses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Étoile"/>
              </a:rPr>
              <a:t>étoiles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sont principalement disposées selon une grande croix. L'oiseau qu'elle représente s'étend sur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Voie lactée (galaxie)"/>
              </a:rPr>
              <a:t>Voie lactée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estivale, paraissant en migration vers le sud.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Traversée par la Voie lactée, elle contient plusieurs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Étoile"/>
              </a:rPr>
              <a:t>étoiles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brillantes et de nombreux 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9" name="Picture 5" descr="http://upload.wikimedia.org/wikipedia/commons/thumb/3/35/Cygnus.jpg/400px-Cygnus.jpg">
            <a:hlinkClick r:id="rId9" tooltip="Cygnus.jpg"/>
          </p:cNvPr>
          <p:cNvPicPr>
            <a:picLocks noChangeAspect="1" noChangeArrowheads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752" y="0"/>
            <a:ext cx="28575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91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8000" dirty="0" smtClean="0"/>
              <a:t>BÉLIER</a:t>
            </a:r>
            <a:endParaRPr lang="fr-FR" sz="8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825" y="2339975"/>
            <a:ext cx="5789295" cy="2689225"/>
          </a:xfrm>
        </p:spPr>
        <p:txBody>
          <a:bodyPr/>
          <a:lstStyle/>
          <a:p>
            <a:r>
              <a:rPr lang="fr-FR" dirty="0"/>
              <a:t>Le </a:t>
            </a:r>
            <a:r>
              <a:rPr lang="fr-FR" b="1" dirty="0"/>
              <a:t>Bélier</a:t>
            </a:r>
            <a:r>
              <a:rPr lang="fr-FR" dirty="0"/>
              <a:t> est une </a:t>
            </a:r>
            <a:r>
              <a:rPr lang="fr-FR" u="sng" dirty="0">
                <a:hlinkClick r:id="rId2" tooltip="Constellation"/>
              </a:rPr>
              <a:t>constellation</a:t>
            </a:r>
            <a:r>
              <a:rPr lang="fr-FR" dirty="0"/>
              <a:t> du </a:t>
            </a:r>
            <a:r>
              <a:rPr lang="fr-FR" u="sng" dirty="0">
                <a:hlinkClick r:id="rId3" tooltip="Zodiaque"/>
              </a:rPr>
              <a:t>zodiaque</a:t>
            </a:r>
            <a:r>
              <a:rPr lang="fr-FR" dirty="0"/>
              <a:t> est traversée par le </a:t>
            </a:r>
            <a:r>
              <a:rPr lang="fr-FR" u="sng" dirty="0">
                <a:hlinkClick r:id="rId4" tooltip="Soleil"/>
              </a:rPr>
              <a:t>Soleil</a:t>
            </a:r>
            <a:r>
              <a:rPr lang="fr-FR" dirty="0"/>
              <a:t> du </a:t>
            </a:r>
            <a:r>
              <a:rPr lang="fr-FR" u="sng" dirty="0">
                <a:hlinkClick r:id="rId5" tooltip="19 avril"/>
              </a:rPr>
              <a:t>19 avril</a:t>
            </a:r>
            <a:r>
              <a:rPr lang="fr-FR" dirty="0"/>
              <a:t> au </a:t>
            </a:r>
            <a:r>
              <a:rPr lang="fr-FR" u="sng" dirty="0">
                <a:hlinkClick r:id="rId6" tooltip="13 mai"/>
              </a:rPr>
              <a:t>13 mai</a:t>
            </a:r>
            <a:r>
              <a:rPr lang="fr-FR" dirty="0"/>
              <a:t>. Dans l'ordre du zodiaque, la constellation se situe entre les </a:t>
            </a:r>
            <a:r>
              <a:rPr lang="fr-FR" u="sng" dirty="0">
                <a:hlinkClick r:id="rId7" tooltip="Poissons"/>
              </a:rPr>
              <a:t>Poissons</a:t>
            </a:r>
            <a:r>
              <a:rPr lang="fr-FR" dirty="0"/>
              <a:t> à l'ouest et le </a:t>
            </a:r>
            <a:r>
              <a:rPr lang="fr-FR" u="sng" dirty="0">
                <a:hlinkClick r:id="rId8" tooltip="Taureau (constellation)"/>
              </a:rPr>
              <a:t>Taureau</a:t>
            </a:r>
            <a:r>
              <a:rPr lang="fr-FR" dirty="0"/>
              <a:t> à l'est</a:t>
            </a:r>
            <a:r>
              <a:rPr lang="fr-FR" dirty="0" smtClean="0"/>
              <a:t>.</a:t>
            </a:r>
            <a:endParaRPr lang="fr-FR" dirty="0"/>
          </a:p>
        </p:txBody>
      </p:sp>
      <p:pic>
        <p:nvPicPr>
          <p:cNvPr id="5121" name="Picture 1" descr="http://upload.wikimedia.org/wikipedia/fr/thumb/5/56/Aries_constellation_map.png/290px-Aries_constellation_map.png"/>
          <p:cNvPicPr>
            <a:picLocks noChangeAspect="1" noChangeArrowheads="1"/>
          </p:cNvPicPr>
          <p:nvPr/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450" y="2538476"/>
            <a:ext cx="5386975" cy="377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2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445000" cy="1325563"/>
          </a:xfrm>
        </p:spPr>
        <p:txBody>
          <a:bodyPr/>
          <a:lstStyle/>
          <a:p>
            <a:pPr algn="ctr"/>
            <a:r>
              <a:rPr lang="fr-FR" b="1" dirty="0" smtClean="0"/>
              <a:t>TRIANGLE</a:t>
            </a:r>
            <a:endParaRPr lang="fr-FR" b="1" dirty="0"/>
          </a:p>
        </p:txBody>
      </p:sp>
      <p:pic>
        <p:nvPicPr>
          <p:cNvPr id="13313" name="Picture 1" descr="http://upload.wikimedia.org/wikipedia/fr/thumb/a/ae/Triangulum_constellation_map.png/290px-Triangulum_constellation_map.png">
            <a:hlinkClick r:id="rId3" tooltip="&quot;Triangulum constellation map.png&quot;"/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267" y="2284448"/>
            <a:ext cx="5514447" cy="437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0267" y="3686381"/>
            <a:ext cx="565573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Triangle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est une petite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 tooltip="Constellation"/>
              </a:rPr>
              <a:t>constellation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 l'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7" tooltip="Hémisphère nord"/>
              </a:rPr>
              <a:t>hémisphère nord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dont les trois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8" tooltip="Étoile"/>
              </a:rPr>
              <a:t>étoiles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principales forment justement un </a:t>
            </a:r>
            <a:r>
              <a:rPr lang="fr-FR" sz="32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9" tooltip="Triangle"/>
              </a:rPr>
              <a:t>triangle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allongé.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6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POISSONS</a:t>
            </a:r>
            <a:endParaRPr lang="fr-F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59410"/>
            <a:ext cx="6096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Les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Poissons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sont une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Constellation"/>
              </a:rPr>
              <a:t>constellation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Zodiaque"/>
              </a:rPr>
              <a:t>zodiaque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traversée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Soleil"/>
              </a:rPr>
              <a:t>Soleil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12 mars"/>
              </a:rPr>
              <a:t>12 mars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18 avril"/>
              </a:rPr>
              <a:t>18 avril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Dans l'ordre du zodiaque, elle se situe entre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Verseau"/>
              </a:rPr>
              <a:t>Verseau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l'ouest et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Constellation du Bélier"/>
              </a:rPr>
              <a:t>Bélier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l'est. Bien qu’assez grande, elle découpe un pan du ciel éloigné du plan de la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Voie lactée (galaxie)"/>
              </a:rPr>
              <a:t>Voie lactée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ne contient que peu d’étoiles visibles, toutes assez peu lumineuses.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Les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 tooltip="Poissons (astrologie)"/>
              </a:rPr>
              <a:t>Poissons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sont également un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 tooltip="Signe astrologique"/>
              </a:rPr>
              <a:t>signe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Zodiaque"/>
              </a:rPr>
              <a:t>zodiaque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correspondant au secteur de 30° de l'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3" tooltip="Écliptique"/>
              </a:rPr>
              <a:t>écliptique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Soleil"/>
              </a:rPr>
              <a:t>Soleil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4" tooltip="19 février"/>
              </a:rPr>
              <a:t>19 février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5" tooltip="20 mars"/>
              </a:rPr>
              <a:t>20 mars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://upload.wikimedia.org/wikipedia/fr/thumb/d/d5/Pisces_constellation_map.png/290px-Pisces_constellation_map.png">
            <a:hlinkClick r:id="rId16" tooltip="&quot;Pisces constellation map.png&quot;"/>
          </p:cNvPr>
          <p:cNvPicPr>
            <a:picLocks noChangeAspect="1" noChangeArrowheads="1"/>
          </p:cNvPicPr>
          <p:nvPr/>
        </p:nvPicPr>
        <p:blipFill>
          <a:blip r:embed="rId17" r:link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900" y="2878668"/>
            <a:ext cx="5843100" cy="384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28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0" y="365125"/>
            <a:ext cx="4495800" cy="1325563"/>
          </a:xfrm>
        </p:spPr>
        <p:txBody>
          <a:bodyPr/>
          <a:lstStyle/>
          <a:p>
            <a:pPr algn="ctr"/>
            <a:r>
              <a:rPr lang="fr-FR" b="1" dirty="0" smtClean="0"/>
              <a:t>VIERGE</a:t>
            </a:r>
            <a:endParaRPr lang="fr-FR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91067" y="473671"/>
            <a:ext cx="560493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Vierge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 une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 tooltip="Constellation"/>
              </a:rPr>
              <a:t>constellation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 tooltip="Zodiaque"/>
              </a:rPr>
              <a:t>zodiaque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traversée par le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Soleil"/>
              </a:rPr>
              <a:t>Soleil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16 septembre"/>
              </a:rPr>
              <a:t>16 septembre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30 octobre"/>
              </a:rPr>
              <a:t>30 octobre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Dans l'ordre du zodiaque, elle se situe entre le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Lion (constellation)"/>
              </a:rPr>
              <a:t>Lion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l'ouest et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Balance (constellation)"/>
              </a:rPr>
              <a:t>Balance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l'est. 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://upload.wikimedia.org/wikipedia/fr/thumb/7/77/Virgo_constellation_map.png/290px-Virgo_constellation_map.png">
            <a:hlinkClick r:id="rId10" tooltip="&quot;Virgo constellation map.png&quot;"/>
          </p:cNvPr>
          <p:cNvPicPr>
            <a:picLocks noChangeAspect="1" noChangeArrowheads="1"/>
          </p:cNvPicPr>
          <p:nvPr/>
        </p:nvPicPr>
        <p:blipFill>
          <a:blip r:embed="rId11" r:link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01660"/>
            <a:ext cx="5858933" cy="4153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91066" y="3905648"/>
            <a:ext cx="560493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Vierge est l’une des constellations les plus anciennes, comme quasiment toutes celles du Zodiaque.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8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68142" y="304165"/>
            <a:ext cx="4848497" cy="1325563"/>
          </a:xfrm>
        </p:spPr>
        <p:txBody>
          <a:bodyPr/>
          <a:lstStyle/>
          <a:p>
            <a:pPr algn="ctr"/>
            <a:r>
              <a:rPr lang="fr-FR" b="1" dirty="0" smtClean="0"/>
              <a:t>CASSIOPÉE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76" y="440871"/>
            <a:ext cx="6339567" cy="6288542"/>
          </a:xfrm>
        </p:spPr>
        <p:txBody>
          <a:bodyPr>
            <a:normAutofit/>
          </a:bodyPr>
          <a:lstStyle/>
          <a:p>
            <a:r>
              <a:rPr lang="fr-FR" b="1" dirty="0"/>
              <a:t>Cassiopée</a:t>
            </a:r>
            <a:r>
              <a:rPr lang="fr-FR" dirty="0"/>
              <a:t> est une des 88 </a:t>
            </a:r>
            <a:r>
              <a:rPr lang="fr-FR" u="sng" dirty="0">
                <a:hlinkClick r:id="rId2" tooltip="Constellation"/>
              </a:rPr>
              <a:t>constellations</a:t>
            </a:r>
            <a:r>
              <a:rPr lang="fr-FR" dirty="0"/>
              <a:t> du ciel, visible dans l'</a:t>
            </a:r>
            <a:r>
              <a:rPr lang="fr-FR" u="sng" dirty="0">
                <a:hlinkClick r:id="rId3" tooltip="Hémisphère nord"/>
              </a:rPr>
              <a:t>hémisphère nord</a:t>
            </a:r>
            <a:r>
              <a:rPr lang="fr-FR" dirty="0"/>
              <a:t>. À l'opposé de la </a:t>
            </a:r>
            <a:r>
              <a:rPr lang="fr-FR" u="sng" dirty="0">
                <a:hlinkClick r:id="rId4" tooltip="Grande Ourse"/>
              </a:rPr>
              <a:t>Grande Ourse</a:t>
            </a:r>
            <a:r>
              <a:rPr lang="fr-FR" dirty="0"/>
              <a:t> par rapport à la </a:t>
            </a:r>
            <a:r>
              <a:rPr lang="fr-FR" u="sng" dirty="0">
                <a:hlinkClick r:id="rId5" tooltip="Petite Ourse"/>
              </a:rPr>
              <a:t>Petite Ourse</a:t>
            </a:r>
            <a:r>
              <a:rPr lang="fr-FR" dirty="0"/>
              <a:t>, Cassiopée est très facilement reconnaissable grâce à sa forme de « W ». </a:t>
            </a:r>
            <a:endParaRPr lang="fr-FR" dirty="0" smtClean="0"/>
          </a:p>
          <a:p>
            <a:r>
              <a:rPr lang="fr-FR" dirty="0" smtClean="0"/>
              <a:t>Les </a:t>
            </a:r>
            <a:r>
              <a:rPr lang="fr-FR" dirty="0"/>
              <a:t>sommets de ce W sont, d'</a:t>
            </a:r>
            <a:r>
              <a:rPr lang="fr-FR" u="sng" dirty="0">
                <a:hlinkClick r:id="rId6" tooltip="Est (point cardinal)"/>
              </a:rPr>
              <a:t>est</a:t>
            </a:r>
            <a:r>
              <a:rPr lang="fr-FR" dirty="0"/>
              <a:t> en </a:t>
            </a:r>
            <a:r>
              <a:rPr lang="fr-FR" u="sng" dirty="0">
                <a:hlinkClick r:id="rId7" tooltip="Ouest (point cardinal)"/>
              </a:rPr>
              <a:t>ouest</a:t>
            </a:r>
            <a:r>
              <a:rPr lang="fr-FR" dirty="0"/>
              <a:t>, ε, δ, α, et β </a:t>
            </a:r>
            <a:r>
              <a:rPr lang="fr-FR" dirty="0" err="1"/>
              <a:t>Cassiopeiae</a:t>
            </a:r>
            <a:r>
              <a:rPr lang="fr-FR" dirty="0"/>
              <a:t>, les quatre </a:t>
            </a:r>
            <a:r>
              <a:rPr lang="fr-FR" u="sng" dirty="0">
                <a:hlinkClick r:id="rId8" tooltip="Étoile"/>
              </a:rPr>
              <a:t>étoiles</a:t>
            </a:r>
            <a:r>
              <a:rPr lang="fr-FR" dirty="0"/>
              <a:t> les plus brillantes de la constellation. La pointe centrale du W pointe très approximativement en direction de l'étoile polaire, </a:t>
            </a:r>
            <a:r>
              <a:rPr lang="fr-FR" u="sng" dirty="0">
                <a:hlinkClick r:id="rId9" tooltip="Alpha Ursae Minoris"/>
              </a:rPr>
              <a:t>α </a:t>
            </a:r>
            <a:r>
              <a:rPr lang="fr-FR" u="sng" dirty="0" err="1">
                <a:hlinkClick r:id="rId9" tooltip="Alpha Ursae Minoris"/>
              </a:rPr>
              <a:t>Ursae</a:t>
            </a:r>
            <a:r>
              <a:rPr lang="fr-FR" u="sng" dirty="0">
                <a:hlinkClick r:id="rId9" tooltip="Alpha Ursae Minoris"/>
              </a:rPr>
              <a:t> </a:t>
            </a:r>
            <a:r>
              <a:rPr lang="fr-FR" u="sng" dirty="0" err="1">
                <a:hlinkClick r:id="rId9" tooltip="Alpha Ursae Minoris"/>
              </a:rPr>
              <a:t>Minoris</a:t>
            </a:r>
            <a:r>
              <a:rPr lang="fr-FR" dirty="0"/>
              <a:t>.</a:t>
            </a:r>
            <a:endParaRPr lang="en-US" dirty="0"/>
          </a:p>
          <a:p>
            <a:endParaRPr lang="fr-FR" dirty="0"/>
          </a:p>
        </p:txBody>
      </p:sp>
      <p:pic>
        <p:nvPicPr>
          <p:cNvPr id="6145" name="Picture 1" descr="http://upload.wikimedia.org/wikipedia/fr/thumb/0/0d/Cassiopeia_constellation_map.png/290px-Cassiopeia_constellation_map.png"/>
          <p:cNvPicPr>
            <a:picLocks noChangeAspect="1" noChangeArrowheads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443" y="1634482"/>
            <a:ext cx="5476196" cy="496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7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31280" y="365125"/>
            <a:ext cx="4922520" cy="1325563"/>
          </a:xfrm>
        </p:spPr>
        <p:txBody>
          <a:bodyPr/>
          <a:lstStyle/>
          <a:p>
            <a:pPr algn="ctr"/>
            <a:r>
              <a:rPr lang="fr-FR" dirty="0" smtClean="0"/>
              <a:t>GÉMEAUX</a:t>
            </a:r>
            <a:endParaRPr lang="fr-FR" dirty="0"/>
          </a:p>
        </p:txBody>
      </p:sp>
      <p:pic>
        <p:nvPicPr>
          <p:cNvPr id="7169" name="Picture 1" descr="http://upload.wikimedia.org/wikipedia/fr/thumb/5/58/Gemini_constellation_map.png/290px-Gemini_constellation_map.png">
            <a:hlinkClick r:id="rId2" tooltip="&quot;Gemini constellation map.png&quot;"/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0" y="2504886"/>
            <a:ext cx="5213162" cy="408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60521" y="105013"/>
            <a:ext cx="563403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Les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Gémeaux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sont une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 tooltip="Constellation"/>
              </a:rPr>
              <a:t>constellation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 tooltip="Zodiaque"/>
              </a:rPr>
              <a:t>zodiaque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traversée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 tooltip="Soleil"/>
              </a:rPr>
              <a:t>Soleil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 tooltip="20 juin"/>
              </a:rPr>
              <a:t>20 juin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9" tooltip="20 juillet"/>
              </a:rPr>
              <a:t>20 juillet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Dans l'ordre du zodiaque, la constellation se situe entre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 tooltip="Taureau (constellation)"/>
              </a:rPr>
              <a:t>Taureau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l'ouest et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 tooltip="Cancer (constellation)"/>
              </a:rPr>
              <a:t>Cancer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faible à l'est.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Elle est entourée par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 tooltip="Cocher (constellation)"/>
              </a:rPr>
              <a:t>Cocher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3" tooltip="Lynx (constellation)"/>
              </a:rPr>
              <a:t>Lynx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à peine visible au nord et la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4" tooltip="Licorne (constellation)"/>
              </a:rPr>
              <a:t>Licorne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et le 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5" tooltip="Petit Chien"/>
              </a:rPr>
              <a:t>Petit Chien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au sud.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9080" y="4338764"/>
            <a:ext cx="58369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constellation des Gémeaux peut se repérer à partir de la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6" tooltip="Grande Ourse"/>
              </a:rPr>
              <a:t>Grande Ourse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: la diagonale du grand chariot pointe sur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7" tooltip="Pollux (étoile)"/>
              </a:rPr>
              <a:t>Pollux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et cet alignement se prolonge sur la diagonale d'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8" tooltip="Orion (constellation)"/>
              </a:rPr>
              <a:t>Orion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3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325563"/>
          </a:xfrm>
        </p:spPr>
        <p:txBody>
          <a:bodyPr/>
          <a:lstStyle/>
          <a:p>
            <a:pPr algn="ctr"/>
            <a:r>
              <a:rPr lang="fr-FR" b="1" dirty="0" smtClean="0"/>
              <a:t>VERSEAU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151762" y="0"/>
            <a:ext cx="56896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Verseau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ou 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Porteur d’eau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est une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 tooltip="Constellation"/>
              </a:rPr>
              <a:t>constellation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 tooltip="Zodiaque"/>
              </a:rPr>
              <a:t>zodiaque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traversée par le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 tooltip="Soleil"/>
              </a:rPr>
              <a:t>Soleil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 tooltip="16 février"/>
              </a:rPr>
              <a:t>16 février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au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7" tooltip="11 mars"/>
              </a:rPr>
              <a:t>11 mars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Dans l'ordre du zodiaque, la constellation se situe entre le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8" tooltip="Capricorne (constellation)"/>
              </a:rPr>
              <a:t>Capricorne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l'ouest et les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9" tooltip="Poissons"/>
              </a:rPr>
              <a:t>Poissons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l'est</a:t>
            </a:r>
            <a:r>
              <a:rPr lang="fr-FR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Elle est parmi les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 tooltip="Constellation"/>
              </a:rPr>
              <a:t>constellations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les plus vieilles du ciel et se trouve dans une zone souvent appelée la </a:t>
            </a:r>
            <a:r>
              <a:rPr lang="fr-FR" sz="2800" u="sng" dirty="0">
                <a:solidFill>
                  <a:srgbClr val="CC22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0" tooltip="Mer (astronomie) (page inexistante)"/>
              </a:rPr>
              <a:t>Mer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à cause de son abondance de constellations aquatiques telles la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1" tooltip="Baleine (constellation)"/>
              </a:rPr>
              <a:t>Baleine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les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9" tooltip="Poissons"/>
              </a:rPr>
              <a:t>Poissons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2" tooltip="Éridan (constellation)"/>
              </a:rPr>
              <a:t>Éridan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etc. Parfois, le fleuve Éridan est dessiné provenant du pot du Verseau.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337" name="Picture 1" descr="http://upload.wikimedia.org/wikipedia/fr/thumb/0/01/Aquarius_constellation_map.png/290px-Aquarius_constellation_map.png">
            <a:hlinkClick r:id="rId13" tooltip="&quot;Aquarius constellation map.png&quot;"/>
          </p:cNvPr>
          <p:cNvPicPr>
            <a:picLocks noChangeAspect="1" noChangeArrowheads="1"/>
          </p:cNvPicPr>
          <p:nvPr/>
        </p:nvPicPr>
        <p:blipFill>
          <a:blip r:embed="rId14" r:link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77374"/>
            <a:ext cx="5966526" cy="445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5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65133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CANCER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66699" y="1412197"/>
            <a:ext cx="580813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Cancer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est une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 tooltip="Constellation"/>
              </a:rPr>
              <a:t>constellation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 tooltip="Zodiaque"/>
              </a:rPr>
              <a:t>zodiaque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traversée par le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 tooltip="Soleil"/>
              </a:rPr>
              <a:t>Soleil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du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 tooltip="20 juillet"/>
              </a:rPr>
              <a:t>20 juillet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au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7" tooltip="10 août"/>
              </a:rPr>
              <a:t>10 août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Dans l'ordre du zodiaque, il se situe entre les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8" tooltip="Gémeaux"/>
              </a:rPr>
              <a:t>Gémeaux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l'ouest et le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9" tooltip="Lion (constellation)"/>
              </a:rPr>
              <a:t>Lion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à l'est.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Il est entouré par le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0" tooltip="Lynx (constellation)"/>
              </a:rPr>
              <a:t>Lynx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au nord et l'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1" tooltip="Hydre (constellation)"/>
              </a:rPr>
              <a:t>Hydre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et le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2" tooltip="Petit Chien"/>
              </a:rPr>
              <a:t>Petit Chien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au sud.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385" name="Picture 1" descr="http://upload.wikimedia.org/wikipedia/fr/thumb/4/49/Cancer_constellation_map.png/290px-Cancer_constellation_map.png">
            <a:hlinkClick r:id="rId13" tooltip="&quot;Cancer constellation map.png&quot;"/>
          </p:cNvPr>
          <p:cNvPicPr>
            <a:picLocks noChangeAspect="1" noChangeArrowheads="1"/>
          </p:cNvPicPr>
          <p:nvPr/>
        </p:nvPicPr>
        <p:blipFill>
          <a:blip r:embed="rId14" r:link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602" y="565907"/>
            <a:ext cx="5417608" cy="480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01774" y="5718999"/>
            <a:ext cx="107884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L'emplacement de la constellation est facile à trouver, mais il apparaît le plus souvent assez vide d'étoiles.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5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32388" y="160648"/>
            <a:ext cx="5444067" cy="1325563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POISSON AUSTRAL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61112" y="236190"/>
            <a:ext cx="5501334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Poisson austral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est une petite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 tooltip="Constellation"/>
              </a:rPr>
              <a:t>constellation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 l’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 tooltip="Hémisphère sud"/>
              </a:rPr>
              <a:t>hémisphère sud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Elle est surtout remarquable pour son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 tooltip="Étoile"/>
              </a:rPr>
              <a:t>étoile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principale, </a:t>
            </a:r>
            <a:r>
              <a:rPr lang="fr-FR" sz="2800" u="sng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 tooltip="Alpha Piscis Austrini"/>
              </a:rPr>
              <a:t>Fomalhaut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(α </a:t>
            </a:r>
            <a:r>
              <a:rPr lang="fr-FR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PsA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4000" b="1" dirty="0">
              <a:latin typeface="Times New Roman" panose="02020603050405020304" pitchFamily="18" charset="0"/>
            </a:endParaRPr>
          </a:p>
          <a:p>
            <a:pPr algn="just"/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Il semble que la constellation du Poisson austral était déjà connue sous un nom similaire dans l’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7" tooltip="Égypte antique"/>
              </a:rPr>
              <a:t>Égypte antique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C’est donc une constellation ancienne qui fut répertoriée par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8" tooltip="Ptolémée"/>
              </a:rPr>
              <a:t>Ptolémée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dans son </a:t>
            </a:r>
            <a:r>
              <a:rPr lang="fr-FR" sz="2800" i="1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9" tooltip="Almageste"/>
              </a:rPr>
              <a:t>Almageste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Son nom fait bien sûr pendant à la constellation des 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0" tooltip="Poissons"/>
              </a:rPr>
              <a:t>Poissons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visible dans l’</a:t>
            </a:r>
            <a:r>
              <a:rPr lang="fr-FR" sz="2800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11" tooltip="Hémisphère nord"/>
              </a:rPr>
              <a:t>hémisphère nord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fr-FR" sz="2800" dirty="0"/>
          </a:p>
        </p:txBody>
      </p:sp>
      <p:pic>
        <p:nvPicPr>
          <p:cNvPr id="18433" name="Picture 1" descr="http://upload.wikimedia.org/wikipedia/fr/thumb/9/9e/Piscis_austrinus_constellation_map.png/290px-Piscis_austrinus_constellation_map.png">
            <a:hlinkClick r:id="rId12" tooltip="&quot;Piscis austrinus constellation map.png&quot;"/>
          </p:cNvPr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844" y="2861733"/>
            <a:ext cx="6275156" cy="387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83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1950</Words>
  <Application>Microsoft Office PowerPoint</Application>
  <PresentationFormat>Grand écran</PresentationFormat>
  <Paragraphs>121</Paragraphs>
  <Slides>26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Blackoak Std</vt:lpstr>
      <vt:lpstr>Calibri</vt:lpstr>
      <vt:lpstr>Calibri Light</vt:lpstr>
      <vt:lpstr>Times New Roman</vt:lpstr>
      <vt:lpstr>Thème Office</vt:lpstr>
      <vt:lpstr>CONSTELATION</vt:lpstr>
      <vt:lpstr>Présentation PowerPoint</vt:lpstr>
      <vt:lpstr>Présentation PowerPoint</vt:lpstr>
      <vt:lpstr>SCORPION</vt:lpstr>
      <vt:lpstr>BALANCE</vt:lpstr>
      <vt:lpstr>SAGITTAIRE</vt:lpstr>
      <vt:lpstr>CROIX DU SUD</vt:lpstr>
      <vt:lpstr>CENTAURE</vt:lpstr>
      <vt:lpstr>COURONNE AUSTRALE</vt:lpstr>
      <vt:lpstr>GRANDE OURSE </vt:lpstr>
      <vt:lpstr>LION</vt:lpstr>
      <vt:lpstr>TAUREAU</vt:lpstr>
      <vt:lpstr>PETITE OURSE</vt:lpstr>
      <vt:lpstr>COURONNE BORÉALE</vt:lpstr>
      <vt:lpstr>SERPENT</vt:lpstr>
      <vt:lpstr>Présentation PowerPoint</vt:lpstr>
      <vt:lpstr>CYGNE</vt:lpstr>
      <vt:lpstr>BÉLIER</vt:lpstr>
      <vt:lpstr>TRIANGLE</vt:lpstr>
      <vt:lpstr>POISSONS</vt:lpstr>
      <vt:lpstr>VIERGE</vt:lpstr>
      <vt:lpstr>CASSIOPÉE</vt:lpstr>
      <vt:lpstr>GÉMEAUX</vt:lpstr>
      <vt:lpstr>VERSEAU</vt:lpstr>
      <vt:lpstr>CANCER</vt:lpstr>
      <vt:lpstr>POISSON AUSTRAL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CONSTELATION</dc:title>
  <dc:creator>Asus Pc</dc:creator>
  <cp:lastModifiedBy>Asus Pc</cp:lastModifiedBy>
  <cp:revision>38</cp:revision>
  <dcterms:created xsi:type="dcterms:W3CDTF">2018-06-10T15:10:41Z</dcterms:created>
  <dcterms:modified xsi:type="dcterms:W3CDTF">2018-06-23T17:31:45Z</dcterms:modified>
</cp:coreProperties>
</file>